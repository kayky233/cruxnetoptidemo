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5aed9ee804f35" /><Relationship Type="http://schemas.openxmlformats.org/officeDocument/2006/relationships/extended-properties" Target="/docProps/app.xml" Id="R0125ae150021401e" /><Relationship Type="http://schemas.openxmlformats.org/officeDocument/2006/relationships/officeDocument" Target="/ppt/presentation.xml" Id="Rc718fb686ccf46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f1ed1a66c4f19"/>
  </p:sldMasterIdLst>
  <p:notesMasterIdLst>
    <p:notesMasterId xmlns:r="http://schemas.openxmlformats.org/officeDocument/2006/relationships" r:id="Ra5c9b8e6c834439e"/>
  </p:notesMasterIdLst>
  <p:sldIdLst>
    <p:sldId xmlns:r="http://schemas.openxmlformats.org/officeDocument/2006/relationships" id="256" r:id="Rd782dc1e12c94a84"/>
    <p:sldId xmlns:r="http://schemas.openxmlformats.org/officeDocument/2006/relationships" id="257" r:id="Ra68cc864279744fd"/>
    <p:sldId xmlns:r="http://schemas.openxmlformats.org/officeDocument/2006/relationships" id="258" r:id="R25876043e8194186"/>
    <p:sldId xmlns:r="http://schemas.openxmlformats.org/officeDocument/2006/relationships" id="259" r:id="R56adc009f37b4016"/>
    <p:sldId xmlns:r="http://schemas.openxmlformats.org/officeDocument/2006/relationships" id="260" r:id="Rffbc2692dd3d4007"/>
    <p:sldId xmlns:r="http://schemas.openxmlformats.org/officeDocument/2006/relationships" id="261" r:id="R6d14848c62be4b90"/>
    <p:sldId xmlns:r="http://schemas.openxmlformats.org/officeDocument/2006/relationships" id="262" r:id="Rd602aa31fc6a4fa8"/>
    <p:sldId xmlns:r="http://schemas.openxmlformats.org/officeDocument/2006/relationships" id="263" r:id="Rf85ee6aa119a4dd7"/>
    <p:sldId xmlns:r="http://schemas.openxmlformats.org/officeDocument/2006/relationships" id="264" r:id="Re2af05033c0e45b7"/>
    <p:sldId xmlns:r="http://schemas.openxmlformats.org/officeDocument/2006/relationships" id="265" r:id="R28badaf826c440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f1ed1a66c4f19" /><Relationship Type="http://schemas.openxmlformats.org/officeDocument/2006/relationships/theme" Target="/ppt/theme/theme1.xml" Id="Rd694250ef76b41f5" /><Relationship Type="http://schemas.openxmlformats.org/officeDocument/2006/relationships/notesMaster" Target="/ppt/notesMasters/notesMaster1.xml" Id="Ra5c9b8e6c834439e" /><Relationship Type="http://schemas.openxmlformats.org/officeDocument/2006/relationships/presProps" Target="/ppt/presProps.xml" Id="R22b9918e9c8140fe" /><Relationship Type="http://schemas.openxmlformats.org/officeDocument/2006/relationships/viewProps" Target="/ppt/viewProps.xml" Id="R2392e6e2dd114898" /><Relationship Type="http://schemas.openxmlformats.org/officeDocument/2006/relationships/tableStyles" Target="/ppt/tableStyles.xml" Id="Ra80e1f1ecd99456a" /><Relationship Type="http://schemas.openxmlformats.org/officeDocument/2006/relationships/slide" Target="/ppt/slides/slide1.xml" Id="Rd782dc1e12c94a84" /><Relationship Type="http://schemas.openxmlformats.org/officeDocument/2006/relationships/slide" Target="/ppt/slides/slide2.xml" Id="Ra68cc864279744fd" /><Relationship Type="http://schemas.openxmlformats.org/officeDocument/2006/relationships/slide" Target="/ppt/slides/slide3.xml" Id="R25876043e8194186" /><Relationship Type="http://schemas.openxmlformats.org/officeDocument/2006/relationships/slide" Target="/ppt/slides/slide4.xml" Id="R56adc009f37b4016" /><Relationship Type="http://schemas.openxmlformats.org/officeDocument/2006/relationships/slide" Target="/ppt/slides/slide5.xml" Id="Rffbc2692dd3d4007" /><Relationship Type="http://schemas.openxmlformats.org/officeDocument/2006/relationships/slide" Target="/ppt/slides/slide6.xml" Id="R6d14848c62be4b90" /><Relationship Type="http://schemas.openxmlformats.org/officeDocument/2006/relationships/slide" Target="/ppt/slides/slide7.xml" Id="Rd602aa31fc6a4fa8" /><Relationship Type="http://schemas.openxmlformats.org/officeDocument/2006/relationships/slide" Target="/ppt/slides/slide8.xml" Id="Rf85ee6aa119a4dd7" /><Relationship Type="http://schemas.openxmlformats.org/officeDocument/2006/relationships/slide" Target="/ppt/slides/slide9.xml" Id="Re2af05033c0e45b7" /><Relationship Type="http://schemas.openxmlformats.org/officeDocument/2006/relationships/slide" Target="/ppt/slides/slide10.xml" Id="R28badaf826c4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991f22bcae4a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a3861d5a34430" /><Relationship Type="http://schemas.openxmlformats.org/officeDocument/2006/relationships/notesMaster" Target="/ppt/notesMasters/notesMaster1.xml" Id="R0ff8adbd5bb1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335858b44c4457" /><Relationship Type="http://schemas.openxmlformats.org/officeDocument/2006/relationships/notesMaster" Target="/ppt/notesMasters/notesMaster1.xml" Id="Rbdae5e8cfcb5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8cd3dfe45415d" /><Relationship Type="http://schemas.openxmlformats.org/officeDocument/2006/relationships/notesMaster" Target="/ppt/notesMasters/notesMaster1.xml" Id="Rdf46825ffab442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9c0a458ae406a" /><Relationship Type="http://schemas.openxmlformats.org/officeDocument/2006/relationships/notesMaster" Target="/ppt/notesMasters/notesMaster1.xml" Id="Rb225047621da4d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3aa4b72fc425e" /><Relationship Type="http://schemas.openxmlformats.org/officeDocument/2006/relationships/notesMaster" Target="/ppt/notesMasters/notesMaster1.xml" Id="R038a1f7a9c0b49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b190447e494e18" /><Relationship Type="http://schemas.openxmlformats.org/officeDocument/2006/relationships/notesMaster" Target="/ppt/notesMasters/notesMaster1.xml" Id="Rc31ec681230243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2347f439b4093" /><Relationship Type="http://schemas.openxmlformats.org/officeDocument/2006/relationships/notesMaster" Target="/ppt/notesMasters/notesMaster1.xml" Id="Re7b331ab7f064f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1276d455f4a04" /><Relationship Type="http://schemas.openxmlformats.org/officeDocument/2006/relationships/notesMaster" Target="/ppt/notesMasters/notesMaster1.xml" Id="Rf10d442506df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25c8c4128943fd" /><Relationship Type="http://schemas.openxmlformats.org/officeDocument/2006/relationships/notesMaster" Target="/ppt/notesMasters/notesMaster1.xml" Id="R3483d2ccb52f47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e267a0b6db4469" /><Relationship Type="http://schemas.openxmlformats.org/officeDocument/2006/relationships/notesMaster" Target="/ppt/notesMasters/notesMaster1.xml" Id="R875b4a3f1253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7505cc8904c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12f6adfa444482b" /><Relationship Type="http://schemas.openxmlformats.org/officeDocument/2006/relationships/slideLayout" Target="/ppt/slideLayouts/slideLayout2.xml" Id="Ra2e9cca1127547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9cca1127547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7b86aefec4a29" /><Relationship Type="http://schemas.openxmlformats.org/officeDocument/2006/relationships/notesSlide" Target="/ppt/notesSlides/notesSlide1.xml" Id="R77cef3f69ca34a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8e92f13b564740" /><Relationship Type="http://schemas.openxmlformats.org/officeDocument/2006/relationships/notesSlide" Target="/ppt/notesSlides/notesSlide2.xml" Id="R9be1060a78e9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75320d7a04bf6" /><Relationship Type="http://schemas.openxmlformats.org/officeDocument/2006/relationships/notesSlide" Target="/ppt/notesSlides/notesSlide3.xml" Id="R21b0a156c11a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fb6cb62204c2c" /><Relationship Type="http://schemas.openxmlformats.org/officeDocument/2006/relationships/notesSlide" Target="/ppt/notesSlides/notesSlide4.xml" Id="Rcb1e7faa920846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2842ba4cce4e28" /><Relationship Type="http://schemas.openxmlformats.org/officeDocument/2006/relationships/notesSlide" Target="/ppt/notesSlides/notesSlide5.xml" Id="R6e45af841eb640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bf1625ecc44d2e" /><Relationship Type="http://schemas.openxmlformats.org/officeDocument/2006/relationships/notesSlide" Target="/ppt/notesSlides/notesSlide6.xml" Id="Rc52005105e464b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3bee69a99446e0" /><Relationship Type="http://schemas.openxmlformats.org/officeDocument/2006/relationships/notesSlide" Target="/ppt/notesSlides/notesSlide7.xml" Id="R40d4e88b08274d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10a3e1789d4196" /><Relationship Type="http://schemas.openxmlformats.org/officeDocument/2006/relationships/notesSlide" Target="/ppt/notesSlides/notesSlide8.xml" Id="R896597472297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e300b63f75478e" /><Relationship Type="http://schemas.openxmlformats.org/officeDocument/2006/relationships/notesSlide" Target="/ppt/notesSlides/notesSlide9.xml" Id="Rbead321d0e1343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408b7987c1496a" /><Relationship Type="http://schemas.openxmlformats.org/officeDocument/2006/relationships/notesSlide" Target="/ppt/notesSlides/notesSlide10.xml" Id="Rd5c52301d17448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389F8B-F2A5-4053-93C6-F14EDB7E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FE94D-A92F-4A01-A3D6-5C1FE66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PAPER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209DD-AED9-4F46-B22E-3A3A0D5F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810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Demystifying NCCL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51283-C8C6-42D4-A2D7-18ED4A56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790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GPU 通信协议、数据路径与 collective 算法的可编辑论文解读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17C2AA0-60E3-449A-9676-488F27CE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65C01042-A519-494E-95F3-6E71FB6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D290D-7C35-4842-8F59-186D070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6345C-EB58-4AA9-8693-ADC2285E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大消息高带宽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4A63DD9-B08E-4708-BDEB-EB83BE27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ADF81C15-D3C5-4925-81ED-B545087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290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B0FB0-7835-49C1-BE81-F29CF079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76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LL / LL128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7F3CD-D3DE-49BB-A854-173F706B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9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小消息低延迟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CCC559C-5B17-4778-81D8-AD79077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576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3E1D5A7A-BB03-4357-9B85-86BD6CC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1BB82-A953-402D-BE93-5F86995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P2P / SHM / 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9E06E-83DB-4921-802F-939BC69B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按拓扑选路径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FBF230D8-47FB-4D29-A5CB-8390E194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57625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51A26EC-34A2-49B5-855A-0DE544C1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290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A0220-13E5-4BF2-96BA-DCCD176D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Ring / Tree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D6763-9E2C-4E26-B91B-5DA13C0B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9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带宽与延迟权衡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5409B-7EE3-4AF9-B1FD-8DA1FA4C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核心结论：NCCL 不是一个单一 allreduce 算法，而是一套动态选择 channel、protocol、transport 和 topology 的执行系统。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159F7-CEE9-444E-8382-B0062FB6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55C43-D5DE-43DB-9F5E-CEA3AB4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57858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E18CCD9-0823-4BC2-92BB-1B32DBEF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66EBC-A40B-4E58-A4E2-050563A8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6887F-C961-470C-860D-83D126F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EXECUTION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00035-18EA-4E89-9668-D952DBE3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一次 collective 调用会被 NCCL 拆成多层执行决策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6995F-F8EF-4564-9D0B-8C98446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论文的价值在于把这些平时隐含在库内部的选择拆开：API、channel、protocol、transport、algorithm。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CB61A40-EE37-4783-916C-065EFA6E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66601-1A54-4018-B028-2E08B71F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solidFill>
              <a:srgbClr val="6FBF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45FE3-6EF8-46A9-95A8-480022D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Framework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A8262-2F0B-46AA-BE96-A4D88CA0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90825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PyTorch / Megatron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调用 AllReduce 等集合通信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74BC8-13AE-4DA8-A096-0F94CF87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2BF5640F-977B-43AE-89D8-57AB014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7D7C48-831B-4701-8A30-5C04471A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49BEB-725D-4BBC-BBF7-2596D9C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02BBE-49AE-4102-AA1E-D92D58AD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90825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communicator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collective / P2P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group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5EA5E-06AE-41CF-A4DE-C5CC5CD1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1D9C7519-5143-494D-8214-F20E7EE5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0C16B-4270-49C6-B4EE-CB1DD0F2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3883B-D522-4F10-BF21-97F9566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E6F01F-4EE7-40E5-AFD9-5AB70B21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90825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每个 channel 映射到 CUDA block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buffer 分片并行推进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A6852-A6D8-4939-84C5-A794D798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B87954D4-EBA5-4CB5-B05A-7D5398A7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4186F-2940-4053-9006-150BBD70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0">
            <a:solidFill>
              <a:srgbClr val="6BA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DC446-F9A5-4271-BA04-1E6557C3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Transport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9E9A6-6971-43CE-A1A8-1BDE9C7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90825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P2P / SHM / Socket / IB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GDRDMA 与 proxy 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EBC025-B9AC-4C53-895C-0903C34F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2C76A337-235E-45A7-9AD1-043B691E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28A92-3184-49A6-97E3-67BA6BBB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655E6-D762-4B3D-AE1E-6CD4820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14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Fabric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B3746-2726-4F0D-A278-82902F2B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90825"/>
            <a:ext cx="1428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NVLink / PCIe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InfiniBand / RoCE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420137-F421-4011-9163-51C53EF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读论文时可以按这一层次理解：上层只看到 collective API，真实性能却由下层多个自动选择共同决定。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8E00B-253F-4F7D-A6BC-6213A29F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981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这也是为什么单独讨论 ring 或者 RDMA 都不够：NCCL 在 runtime 同时考虑消息大小、拓扑、协议 buffer、channel 数和硬件能力。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4EC9EF-302D-4DF5-A388-B89F3212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118DC-3F27-49B3-96CF-AC71FA2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16490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56F674C-7C75-453A-AA8A-339B4DE4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A9ADF-F2D9-4AC0-83DA-0AD4EE2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78ABC-1AB0-4465-8673-F07A59C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5BCFC-5C6A-4558-B95B-B9123FD1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 是 NCCL 暴露 GPU 与网络并行性的基本单位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09D75-2A08-4CF7-B9B3-518D9BA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每个 channel 对应一个 CUDA block / SM，处理输入 buffer 的不同连续区间，并在 slot 内流水化。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E68261C4-94D0-4914-909B-091E433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33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9251E-96F3-4037-821A-6D5E1964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User buffer split by channel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AAF9B34-08E6-4362-9801-F3185E5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39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04FEC-5EF6-4D72-B7B2-7022D0A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Channel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6EE45-281C-441D-BE3D-3EFADD5D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5052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4AA1801C-F24A-450A-8D72-0FDC40E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7840E2-CDA9-44DC-9031-3FC9ED1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24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8 pipeline slots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1B3DFD6-F7B4-4583-93C6-D7BF1124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62250"/>
            <a:ext cx="139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D5130-8AA3-4E09-9171-A0A1AC5A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622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Channel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596B2-A216-4ABB-AFB8-813DC6B5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052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0BBA079D-F785-4D36-986B-538FEFF1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95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F96B6-0688-4709-B7F0-BB2A8B6C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24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8 pipeline slots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E61920FA-1AA4-4E47-BEF8-87F532C6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139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03BDC-A75C-4A47-B88D-6BF997A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622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Channel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78516-83A1-4282-B9E8-670B2C2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052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solidFill>
              <a:srgbClr val="6FBF73"/>
            </a:solidFill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2A50D35F-2E4A-40E1-9304-600B201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681D6-FA48-4FB1-B397-FD839B29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24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8 pipeline slots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4808EFE4-D304-4413-A25E-B84FF753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139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9525">
            <a:solidFill>
              <a:srgbClr val="6BA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950CA-9D58-4968-896B-0DD7C6BC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62275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Channel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A1906-07FC-4114-A203-C2A5C784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5052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0">
            <a:solidFill>
              <a:srgbClr val="6BA6FF"/>
            </a:solidFill>
            <a:prstDash val="solid"/>
          </a:ln>
        </p:spPr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07D90BDE-FDE5-46DB-9BF6-CF52B36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95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6BA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AB104-02F3-46E4-936C-28A1A9E0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8 pipeline slots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95FE6-91C3-4A47-BBF7-BCA5A2D7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5D156B81-3D4A-42D7-8D74-9BBBA69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2E3B57-F3DF-4D9C-A1D6-48CA65C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28875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paper defaults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B3ED4954-E153-414C-8AFE-22A2CDB4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788E03-7509-4EFA-9466-50AA7C75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1942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C6D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EA8EE4-850A-4635-984C-0B71AF31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194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4 MiB buffer / 512 KiB slot</a:t>
            </a:r>
          </a:p>
        </p:txBody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149492DF-92FE-44FE-8191-7EEE30E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BF9AD3-4CE9-4332-B796-5FCC43D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4332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B4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B44E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A2267-818B-4869-B180-23EE572A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433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256 KiB buffer / 16 KiB effective data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15A6AD78-AC71-4D56-B6CC-C3409D3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9D94D7-72ED-46A3-84A4-59451F4F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6722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04BE41-7EA9-4549-B729-BAA9274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6722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~4800 KiB buffer / 562.5 KiB effective 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7A6D06-AE01-4DB4-925D-ED967F1D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914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 数太少会吃不满链路；太多又会让每个 channel chunk 太小，导致 NIC buffer 不满、QP/ECMP 效率下降。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98500-645D-4ACD-A8A8-495EC88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196629-687E-4869-84AD-7B64E988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97179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AFF0A2-D45E-40A2-B805-D79FDBF4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9675B-42E4-4E33-99F9-553311D0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6231E-D723-4717-A3A7-F5D070D8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PROTOCOLS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A0536-C68A-4F2F-98D2-3A6B2FD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Simple、LL、LL128 的本质差异是同步粒度和有效载荷效率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00608-2ED9-4829-8FBA-7CD22B99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协议选择由消息大小、算法、拓扑和硬件能力共同约束；手工指定通常不如 NCCL autotuning 稳。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C403F8D-063B-4021-AEBC-FF173C0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B6155DCB-BC3A-431C-8F72-D8752C1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2597A-0A3F-47C3-9B59-66934EB9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2B961-657A-4B30-B0F9-0B99ADA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High bandwidth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34C7E-00B1-4864-BBB3-487E5BEE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Payload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2B0FA-646E-4714-BEFC-02C69A8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62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Data chunks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9976F-C7AF-493F-9358-06BAC933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0D9AC-A225-4CE5-B49F-3A0EA9F8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Memory fences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5BF10-3281-4A45-BFE6-7BCB3F73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EDF59-6D76-4EF4-8476-9C74792E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9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~6µs per-hop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F87E4-01D1-4804-803C-2BF7CE82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Bandwidth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6A797-B9C6-45CF-A842-0D1D600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Near peak for large messages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D2F897A4-9289-4B6F-8F89-6B21D05D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383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19D2B9BD-E6D8-4626-810A-081C648F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288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3E858-DF02-42BB-812D-DCAB20D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30C21-A41D-4638-85C3-F1D676D7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051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Low latency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2CA53-CCB0-4C85-A41C-A40773D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8137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Payload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B54EE-4B7A-45E9-9F72-AC9B1B9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62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4B data + 4B flag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87866-8223-4EB6-96A6-1C7A6B2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10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DBFC5B-97D5-4994-88E0-AD35B3B5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Flag-based sync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34AFBC-1264-4A8D-9C27-B756073D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3862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1D34B8-16B3-4F9E-BC44-18CCD2D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9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~1µs per-hop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6D7D7-746C-4031-AD17-4AFA256A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Bandwidth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82185-AF48-47A4-BA3A-B3B95AFD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48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25-50% peak bandwidth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C838543C-0F0E-48FF-AA11-4C5F7DEE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143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E58397E8-A9E5-4A50-BE78-A5F9EC19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276684-B0C1-415C-8066-34ECEAE7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819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LL128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527A1C-C832-4C3A-8455-FFEE3ED1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051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Latency + bandwidth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40F26-CF4E-45E8-B169-8448FFDB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8137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Payload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6564D2-7B6F-419C-90E1-4A7F620B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62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120B data + 8B flag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D89617-B557-4F82-8981-72CE752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E967C6-C4D6-47BF-A866-C3C388C4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Flag-based sync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E07DDE-631E-4361-8D23-D789803B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13E3DF-D814-4B74-8D27-9758612C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19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~2µs per-hop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30F985-10AC-48C8-9385-82BBC9D4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672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87C"/>
                </a:solidFill>
                <a:latin typeface="Aptos"/>
                <a:ea typeface="Aptos"/>
                <a:cs typeface="Aptos"/>
              </a:rPr>
              <a:t>Bandwidth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FF3E4C-165E-46EE-A731-7005E5C8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~95% peak where supported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8537D3-52CC-43E1-AC9A-296D23B8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一句话记忆：Simple 用更粗粒度换大吞吐；LL 用 8B 原子单元换低延迟；LL128 用 128B 单元补回带宽，但依赖硬件原子写保证。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548519-EDB3-4337-99AD-ACC336B7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C88964-27A9-4C9C-AF9F-16AEDE4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3091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89B734-EB99-40CD-B70D-C8FCEBCE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49CE-1070-422B-A079-93828C64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FBED9-9D1F-428D-AD83-215F77A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INTRA-NODE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3EE43-E0EF-40D2-A3AD-0C82190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节点内通信的关键是能否留在 GPU 直达路径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0CCC7-2644-483A-B926-67E7D3E9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NCCL 按拓扑优先走 GPUDirect P2P；P2P 不可用或跨 socket 太差时，才退回 SHM 或其他路径。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EC391988-ECE0-4FAE-A511-23C7EF72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8BC5F3F-2BDC-4A21-9FB0-854A7CC3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1C"/>
          </a:solidFill>
          <a:ln xmlns:a="http://schemas.openxmlformats.org/drawingml/2006/main" w="9525">
            <a:solidFill>
              <a:srgbClr val="3E5E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53528-3034-4159-95F5-A5880FE9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861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GPU 0</a:t>
            </a:r>
          </a:p>
          <a:p xmlns:a="http://schemas.openxmlformats.org/drawingml/2006/main">
            <a:pPr algn="ctr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sendBuff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7FF27FE3-DFB9-42EF-B66E-57F804B5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23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1C"/>
          </a:solidFill>
          <a:ln xmlns:a="http://schemas.openxmlformats.org/drawingml/2006/main" w="9525">
            <a:solidFill>
              <a:srgbClr val="3E5E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9FB62-7B9C-4D6F-B52F-2A25CC5F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GPU 1</a:t>
            </a:r>
          </a:p>
          <a:p xmlns:a="http://schemas.openxmlformats.org/drawingml/2006/main">
            <a:pPr algn="ctr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recvBuff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18AF91F-2837-450B-B255-87EAFDC8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1"/>
          </a:solidFill>
          <a:ln xmlns:a="http://schemas.openxmlformats.org/drawingml/2006/main" w="9525">
            <a:solidFill>
              <a:srgbClr val="4951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A36CD-B289-4365-B129-82CD87A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574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BF7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FBF73"/>
                </a:solidFill>
                <a:latin typeface="PingFang SC"/>
                <a:ea typeface="PingFang SC"/>
                <a:cs typeface="PingFang SC"/>
              </a:rPr>
              <a:t>NVLink / P2P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6058D-09B6-4EC4-997D-9D59AD53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0987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solidFill>
              <a:srgbClr val="6FBF7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7D9F2-5BDF-4453-AC7F-72C6DB47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solidFill>
              <a:srgbClr val="6FBF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F0FA2-E94E-4579-B644-677EACB8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fast path: direct GPU memory access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98C16EC4-F06E-49F6-8616-FFBE4463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620"/>
          </a:solidFill>
          <a:ln xmlns:a="http://schemas.openxmlformats.org/drawingml/2006/main" w="9525">
            <a:solidFill>
              <a:srgbClr val="5B4B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DCD51-AF0B-4739-9C32-8848E2B1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672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B44E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3B44E"/>
                </a:solidFill>
                <a:latin typeface="PingFang SC"/>
                <a:ea typeface="PingFang SC"/>
                <a:cs typeface="PingFang SC"/>
              </a:rPr>
              <a:t>Host SHM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9BFEC-D328-4608-A4A7-242F53D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338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3E804-42C8-4330-AEE0-FDFEC358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0"/>
            <a:ext cx="147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050A5-4879-433C-8F2E-2F61870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1666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2027C-221B-4636-8158-73CBBE36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33800"/>
            <a:ext cx="28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7CF1E0B-347F-471F-B2B5-216330B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70423-DEF2-47D5-8038-2C8775E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1457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decision order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32841707-CE8D-4CBD-B135-00CC312C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B9CC05-6333-4AFC-ACA2-7C8A8ED2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4F5807-9C6D-47BD-B597-78397659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0512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NVLink P2P / P2P_DIRECT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ABC10F76-936F-46B7-8F8B-B993991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1EFF0-EFF0-47E2-929B-FCEC00EA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08A3C0-DDCA-441F-B0C1-6E988E5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242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PCIe P2P when available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59E62486-9F96-4623-8B34-F27B749E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1098B-D6A9-4182-A5D5-B756E81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529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46926-F113-412D-908A-E4FA8CDE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4337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SHM through host memory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54BE28EA-7F68-467B-A62D-D4E378F9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6FF"/>
          </a:solidFill>
          <a:ln xmlns:a="http://schemas.openxmlformats.org/drawingml/2006/main" w="9525">
            <a:solidFill>
              <a:srgbClr val="6BA6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8CA24-DD77-4713-B72F-2EA04104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31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DDBC4-D0D1-49B5-BF6B-66F01607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625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NIC path in special cross-socket cases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AF9DA1-5221-4EE0-B073-A96D527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DACB89-2E49-49F6-9591-678E690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7966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E087771-BEEF-4AAF-A70E-08B8224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E72AA-BEFA-4FE7-8ECB-660ADCFE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CAE40-F108-4D16-8BE6-930F6468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INTER-NODE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0772E-F5E4-44EB-A6F8-FA5534A4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跨节点通信由 GPU kernel、CPU proxy 与 RDMA 队列共同推进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34FEE-8425-48D1-AE21-3D9AFE43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GDRDMA 可以绕开 host staging，但 NCCL 仍需要 proxy thread 管理 QP、CTS、completion 和 flush。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F4A0E3D9-41D5-41FE-9D2B-7F424B1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9CC11-77DA-48EB-9AFC-CA509B4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Node 0 / sender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4E29D4F-0388-46A9-A833-461A1595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67CBD-EB30-4713-9E2C-AF08D5C1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Node 1 / receiver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DE26D38-88BA-4D9D-80DA-37D1C73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1C"/>
          </a:solidFill>
          <a:ln xmlns:a="http://schemas.openxmlformats.org/drawingml/2006/main" w="9525">
            <a:solidFill>
              <a:srgbClr val="3E5E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36498-52B5-437E-90CF-F0DFD960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ctr">
              <a:defRPr sz="1350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6E5395CC-2FD0-4162-B817-091EBDDA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620"/>
          </a:solidFill>
          <a:ln xmlns:a="http://schemas.openxmlformats.org/drawingml/2006/main" w="9525">
            <a:solidFill>
              <a:srgbClr val="5B4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4B75A-23F1-4FE8-9AF8-01134680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4805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B4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B44E"/>
                </a:solidFill>
                <a:latin typeface="Aptos"/>
                <a:ea typeface="Aptos"/>
                <a:cs typeface="Aptos"/>
              </a:rPr>
              <a:t>CPU proxy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61C4FB9-85F6-4A12-8D78-A8E3357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B"/>
          </a:solidFill>
          <a:ln xmlns:a="http://schemas.openxmlformats.org/drawingml/2006/main" w="9525">
            <a:solidFill>
              <a:srgbClr val="355A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56851-0756-422A-8E90-B28685A6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4805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C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C6D6"/>
                </a:solidFill>
                <a:latin typeface="Aptos"/>
                <a:ea typeface="Aptos"/>
                <a:cs typeface="Aptos"/>
              </a:rPr>
              <a:t>NIC</a:t>
            </a:r>
          </a:p>
          <a:p xmlns:a="http://schemas.openxmlformats.org/drawingml/2006/main">
            <a:pPr algn="ctr">
              <a:defRPr sz="1275" b="1">
                <a:solidFill>
                  <a:srgbClr val="39C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C6D6"/>
                </a:solidFill>
                <a:latin typeface="Aptos"/>
                <a:ea typeface="Aptos"/>
                <a:cs typeface="Aptos"/>
              </a:rPr>
              <a:t>IB/RoCE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3F02D28D-7B36-4F6C-8C27-3275470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B"/>
          </a:solidFill>
          <a:ln xmlns:a="http://schemas.openxmlformats.org/drawingml/2006/main" w="9525">
            <a:solidFill>
              <a:srgbClr val="355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76DA4-F7FC-49E8-AC5D-60E5FD7F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44805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C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C6D6"/>
                </a:solidFill>
                <a:latin typeface="Aptos"/>
                <a:ea typeface="Aptos"/>
                <a:cs typeface="Aptos"/>
              </a:rPr>
              <a:t>NIC</a:t>
            </a:r>
          </a:p>
          <a:p xmlns:a="http://schemas.openxmlformats.org/drawingml/2006/main">
            <a:pPr algn="ctr">
              <a:defRPr sz="1275" b="1">
                <a:solidFill>
                  <a:srgbClr val="39C6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9C6D6"/>
                </a:solidFill>
                <a:latin typeface="Aptos"/>
                <a:ea typeface="Aptos"/>
                <a:cs typeface="Aptos"/>
              </a:rPr>
              <a:t>IB/RoCE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6C5C8691-05C2-4864-B4C8-156AAAD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620"/>
          </a:solidFill>
          <a:ln xmlns:a="http://schemas.openxmlformats.org/drawingml/2006/main" w="9525">
            <a:solidFill>
              <a:srgbClr val="5B4B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DB326-7F06-47EC-95DD-E9D77771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448050"/>
            <a:ext cx="876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B44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B44E"/>
                </a:solidFill>
                <a:latin typeface="Aptos"/>
                <a:ea typeface="Aptos"/>
                <a:cs typeface="Aptos"/>
              </a:rPr>
              <a:t>CPU proxy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2BEDD81-4B72-42AD-B937-C6222A1E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5755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1C"/>
          </a:solidFill>
          <a:ln xmlns:a="http://schemas.openxmlformats.org/drawingml/2006/main" w="9525">
            <a:solidFill>
              <a:srgbClr val="3E5E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29E552-F79B-4183-BA5A-C440362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48050"/>
            <a:ext cx="800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ctr">
              <a:defRPr sz="1350" b="1">
                <a:solidFill>
                  <a:srgbClr val="6FBF7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FBF73"/>
                </a:solidFill>
                <a:latin typeface="Aptos"/>
                <a:ea typeface="Aptos"/>
                <a:cs typeface="Aptos"/>
              </a:rPr>
              <a:t>kernel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4CFA4-70C0-494D-89FA-0A98BA58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75305-0D8C-4A0C-B394-B2E192A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29863-ADBA-41F0-BF39-3CA3A84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766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D9F06-E50D-4BB4-AFCC-BE8F734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766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895533-C957-4DB9-AED7-F2FDB45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542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C515C-0B1C-4D48-8BA5-ECC43874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05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BFAE"/>
                </a:solidFill>
                <a:latin typeface="Aptos"/>
                <a:ea typeface="Aptos"/>
                <a:cs typeface="Aptos"/>
              </a:rPr>
              <a:t>GPU memory or host staging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29CE4-0229-49C6-9D4F-249188CB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EFE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4EFE6"/>
                </a:solidFill>
                <a:latin typeface="Aptos Mono"/>
                <a:ea typeface="Aptos Mono"/>
                <a:cs typeface="Aptos Mono"/>
              </a:rPr>
              <a:t>RDMA_WRITE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7A2F69C0-E21F-438D-B572-91FF67D0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2F577-EC1B-44C5-B401-6FFA2F1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76825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important details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8289A-13C8-41F9-BF65-06401CD5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482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独立 data QP 承载大流量；反向 CTS QP 承载小控制消息；GDRDMA 后还用 loop-back RDMA_READ 做本地 flush，保证 PCIe write 到达 GPU memory。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AD1DA-CEB5-48FB-A17A-7BC885AE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2A672-B86B-4137-BBCC-66316607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81638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286BB1F-689B-44B0-94EA-207FFE0D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FD503-7C38-40B0-B5BA-F246C6DB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F73D1-9A9D-46D1-BCF4-AEE09C87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RING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8DBDF-1E45-4573-9FA3-1F048E7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 通过 ReduceScatter + AllGather 把带宽吃满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CCD9C-C135-42DA-BEE1-C4F76F9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每个 rank 只和左右邻居通信，适合大消息；代价是依赖更多 step，延迟随参与 GPU 数增加。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C2661-C60C-49BF-8527-DACD81BE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E3EA-732C-44E9-B56C-9811CB7A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E1872-AFFD-4718-91F3-6F34B0F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149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D2129-0288-43CE-9BE9-88CB19E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38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9835C-8941-419C-932B-01D9118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F4EF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ED1A1-5408-4535-B624-ACD9E4A8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8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999A9-C2D3-484E-908A-35C29EB8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F4EF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1B08B-3D1C-439C-A193-15D0853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237BF-AB12-4502-B170-1D23CAD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67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F4EF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0ABB0-D989-44D0-933A-C129590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95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4A096-00CD-4EEF-A4D4-D2F153DD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67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F4EF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8704C-5155-45AF-B57E-AFC67F3A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95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 3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10A70E1-81F4-4254-97A2-7DAE44F6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33625"/>
            <a:ext cx="581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25AF85CD-25A8-41B9-A1F3-3A49EB29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CAA9F-9ACB-4D90-B0DD-40AC8C45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0751C-0C6E-489F-AAAD-E84F2F11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D14CD-42F7-4B9A-AD1A-DB8E7BDF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146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BFAE"/>
                </a:solidFill>
                <a:latin typeface="Aptos Mono"/>
                <a:ea typeface="Aptos Mono"/>
                <a:cs typeface="Aptos Mono"/>
              </a:rPr>
              <a:t>send → recvReduceSend → recvReduceCopySend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D672088B-6422-4BCC-9680-DFBDED28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33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2F4DB-9E81-4F30-9BDE-2BEDBDC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81425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8D425-52A1-40A5-8B30-56FAAB7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AllGather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937C3-AFC3-4990-8746-96F9F4D2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BFA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BFAE"/>
                </a:solidFill>
                <a:latin typeface="Aptos Mono"/>
                <a:ea typeface="Aptos Mono"/>
                <a:cs typeface="Aptos Mono"/>
              </a:rPr>
              <a:t>recvCopySend → recv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959FFB-ABAC-4EC3-A4AB-5D6F214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62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3625E-F05D-4E88-9A87-1F9BCE22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67300"/>
            <a:ext cx="581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论文将 Ring AllReduce 解释为非流水化 pattern：每个 outer loop 内必须按 step 依赖推进。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8275D-34DE-4A41-BF94-A234F11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E0B23-C1BB-4044-8B20-93F304AA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54829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AFE66D-9559-4062-8255-C30A9BC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55FF4-3DE4-4833-9B1F-2862A471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E2DF3-404F-48BF-99A1-9D718281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TREE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68E2E-5795-4D7B-8874-DEE2E79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Tree 改变依赖形状，用更少层级换低延迟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D87E-D9ED-4772-AF7C-F0A26034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Tree AllReduce 分 Reduce 和 Broadcast 两个阶段；NCCL 的 double binary tree 进一步提高带宽利用。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9D914F8-111E-4844-9182-6D984934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00300"/>
            <a:ext cx="93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155FB-64DB-4B54-A409-7AA2F1AD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24125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Root</a:t>
            </a:r>
          </a:p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GPU0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9B5A924-26BA-490C-BD52-6F708F08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14750"/>
            <a:ext cx="93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7DDC3-C0F4-4996-AFEE-6107E1FF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38575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Leaf</a:t>
            </a:r>
          </a:p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GPU1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10A2D3FD-3CCB-49B9-9560-5C600528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14750"/>
            <a:ext cx="93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42A00-0B74-454F-BF04-F1EE3C5C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Middle</a:t>
            </a:r>
          </a:p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GPU2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3126A7C5-D7BC-401B-89A3-227021DC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10150"/>
            <a:ext cx="933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88E88-7F89-4FC7-AF3C-71D7715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33975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Leaf</a:t>
            </a:r>
          </a:p>
          <a:p xmlns:a="http://schemas.openxmlformats.org/drawingml/2006/main">
            <a:pPr algn="ctr">
              <a:defRPr sz="1050" b="1">
                <a:solidFill>
                  <a:srgbClr val="1113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316"/>
                </a:solidFill>
                <a:latin typeface="Aptos"/>
                <a:ea typeface="Aptos"/>
                <a:cs typeface="Aptos"/>
              </a:rPr>
              <a:t>GPU3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A0273-259C-466E-96E7-AB12B4AC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3850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C3C5A-A5AE-4B25-AC11-AC6AB1BA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37E3E-CF60-443C-91C1-324D7F0F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572000"/>
            <a:ext cx="3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F3984-180E-4271-8CA1-11024038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1015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D64FEA19-E872-4037-88E7-49CD456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00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C2F7AAD-B499-48AB-AEF6-DBAEC621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F53AE-0A7D-4F7E-BD7B-8F6F9273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0375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3F3F9-B16F-4A1B-8FC6-AB67CB2F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BFA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BFAE"/>
                </a:solidFill>
                <a:latin typeface="Aptos Mono"/>
                <a:ea typeface="Aptos Mono"/>
                <a:cs typeface="Aptos Mono"/>
              </a:rPr>
              <a:t>leaf send；middle recvReduceSend；root recvReduceCopySend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70E920F7-34F7-4544-A35B-F98091D0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ABC01-1ED9-443D-8545-40072D5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875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7F3AC-4B8B-497A-8924-8C986707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624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BFA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8BFAE"/>
                </a:solidFill>
                <a:latin typeface="Aptos Mono"/>
                <a:ea typeface="Aptos Mono"/>
                <a:cs typeface="Aptos Mono"/>
              </a:rPr>
              <a:t>root/middle recvCopySend；leaf recv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E57EB-1833-43FA-B202-7780AF1D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 偏带宽，Tree 偏延迟。论文的 benchmark 也显示：大消息 Ring 更强，小消息 Tree 更适合。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CF7C3-EC66-46D4-BBD0-F76C6AA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909EF-9786-4309-9254-293B1F4B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539063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7C38A06-1114-4A03-AF2A-ABB82436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699883-278F-45F9-8A66-D8ABCB3B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8DF70-D17B-49D7-8EC8-38AA136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BENCHMARK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76326-6E7F-41CC-83BB-1191E93F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实验结果基本可以从协议和拓扑机制直接推出来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A08FD-7219-494B-B352-69BE337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论文在 16 个 GH200 节点上测 AllReduce：协议优势随 intra/inter-node 与消息大小改变。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AA3A2E0C-7CD6-4E95-8F78-E8E38F7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9525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43A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72F03-2C8E-4D5A-AD72-DEF67F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Small 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9EF41-10DA-42B9-84A6-0522B54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4317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Large 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D7DC-FD9F-45E3-8785-9F7680D9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Inter-node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18027-D6B9-48D8-B4D1-F0F962E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624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Intra-node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96FA2DDB-8FA5-41B2-925C-F106C05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03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F"/>
          </a:solidFill>
          <a:ln xmlns:a="http://schemas.openxmlformats.org/drawingml/2006/main" w="9525">
            <a:solidFill>
              <a:srgbClr val="40474F"/>
            </a:solidFill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C86DF0D-204E-4383-9265-3BDBBDE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527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9525">
            <a:solidFill>
              <a:srgbClr val="F3B44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2601A-CF1E-4B6B-B9C6-0DF8FFFF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200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LL / LL128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17BB9-254F-4D1E-A2B8-2A8A399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62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lower latency dominates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A08D1EFC-081E-4112-A19E-AE28A2E5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F"/>
          </a:solidFill>
          <a:ln xmlns:a="http://schemas.openxmlformats.org/drawingml/2006/main" w="9525">
            <a:solidFill>
              <a:srgbClr val="40474F"/>
            </a:solidFill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2D07A3E-F13E-4FD6-A678-7136523A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527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D2A19-F175-461D-AD76-639CED9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004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13E7E-688E-42C5-B5E1-33E6F702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623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fewer sync events sustain throughput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D191389-5C7D-4DB7-85A0-41AE5AD8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528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F"/>
          </a:solidFill>
          <a:ln xmlns:a="http://schemas.openxmlformats.org/drawingml/2006/main" w="9525">
            <a:solidFill>
              <a:srgbClr val="40474F"/>
            </a:solidFill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1877F111-29DF-41B7-902D-B645A1CE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052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E72CD-059C-4548-AC4D-6B5B6E93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1529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LL128 / 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4E8A0-344C-4A9E-9F09-E1ECB4E4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148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NVLink makes fine-grained protocol viable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03A7F29E-E562-4FC4-AB84-415393D2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52875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F"/>
          </a:solidFill>
          <a:ln xmlns:a="http://schemas.openxmlformats.org/drawingml/2006/main" w="9525">
            <a:solidFill>
              <a:srgbClr val="40474F"/>
            </a:solidFill>
            <a:prstDash val="solid"/>
          </a:ln>
        </p:spPr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1BEFF4EC-A421-41F8-9496-7333358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052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9525">
            <a:solidFill>
              <a:srgbClr val="6FBF7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AAD6A-DB2D-4F8C-A94D-06525D50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529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Simple ≈ LL128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8C25F-24E3-427D-91F9-156E9D10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1480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 best at the extreme; LL128 stays competitive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8FF0DD-5675-42F5-9156-FB53185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962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工程含义：不要只看“哪个协议更快”；先问消息大小、是否跨节点、NVLink/GDRDMA 能否生效，以及 Ring/Tree 的依赖形状是否匹配。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8B037-89F7-4AFF-9899-808D5EB9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087C2-C1BD-4014-98F4-30B9808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58631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84CD550-3DFA-4AC0-A23B-96F4C20D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6"/>
          </a:solidFill>
          <a:ln xmlns:a="http://schemas.openxmlformats.org/drawingml/2006/main" w="0">
            <a:solidFill>
              <a:srgbClr val="11131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07FE3-F119-42F3-8D29-54238B3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16DD-8764-40FB-971E-D7F29D1E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BF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BFAE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42D1C-82C7-41F8-A6CF-EB29FB35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这篇论文给的是优化 NCCL 与模拟训练通信的语言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10F39-C882-4D28-94BF-3146BAD1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ATLAHS 能复现 NCCL 通信 pattern，靠的正是这些 channel、primitive、pipeline 与 protocol 级别的分解。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5C45FA61-D564-442E-9C6D-81A50DB6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D4623-22B2-4BFD-978B-A6421C70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solidFill>
              <a:srgbClr val="39C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F1FA6-AE02-4967-8B20-1AAB8624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75250-2A9D-4798-920D-4C6CA46B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从 NCCL 调用和拓扑开始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识别 collective 类型与 rank 关系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8C65BF7F-736D-4B8F-A6BB-EDAF9F4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CA9BB-F520-46E4-A2D1-2A4E1DE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44E"/>
          </a:solidFill>
          <a:ln xmlns:a="http://schemas.openxmlformats.org/drawingml/2006/main" w="0">
            <a:solidFill>
              <a:srgbClr val="F3B4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7E53B-74B1-4BD0-88C7-A9C1D0E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Decompose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45892-638A-4C34-8FC0-D58AB07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拆成 channel、slot、primitive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send / recv / reduce / copy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4DE4131-20A1-45E2-B233-55E936D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31284-FE12-472B-A9EE-7946789B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F73"/>
          </a:solidFill>
          <a:ln xmlns:a="http://schemas.openxmlformats.org/drawingml/2006/main" w="0">
            <a:solidFill>
              <a:srgbClr val="6FBF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C6470-E338-4CDD-A0D8-BB9A89A5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83C3-49F8-4F0D-8032-2FEA5DDD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区分 pipelined 与 non-pipelined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保留依赖和并发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5EA89F0D-2CA4-4AE3-A09D-9BC1A75A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228"/>
          </a:solidFill>
          <a:ln xmlns:a="http://schemas.openxmlformats.org/drawingml/2006/main" w="9525">
            <a:solidFill>
              <a:srgbClr val="3B41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42F6A-071C-44A3-BCD6-742BA094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B5D"/>
          </a:solidFill>
          <a:ln xmlns:a="http://schemas.openxmlformats.org/drawingml/2006/main" w="0">
            <a:solidFill>
              <a:srgbClr val="E56B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01EDF-A83D-4B20-BE57-9655B5D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Optimize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38A430-6605-44FC-BEDA-81426E83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908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定位瓶颈：协议、路径、QP、channel</a:t>
            </a:r>
          </a:p>
          <a:p xmlns:a="http://schemas.openxmlformats.org/drawingml/2006/main">
            <a:pPr algn="l">
              <a:def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C8BFAE"/>
                </a:solidFill>
                <a:latin typeface="PingFang SC"/>
                <a:ea typeface="PingFang SC"/>
                <a:cs typeface="PingFang SC"/>
              </a:rPr>
              <a:t>或 collective 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AF2B9-F3B4-44DA-9034-57ED4EB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023B3-C806-4326-BD0E-9C994263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03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A1770D-1637-43AD-8A3E-E673815E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E"/>
          </a:solidFill>
          <a:ln xmlns:a="http://schemas.openxmlformats.org/drawingml/2006/main" w="0">
            <a:solidFill>
              <a:srgbClr val="C8BFAE"/>
            </a:solidFill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493D9184-22E4-470E-9736-5BCDDAEB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962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66096-5679-4756-88BB-9FD9A3B1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891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带走这 4 个问题：消息有多大？是否跨节点？数据路径是否绕 host？Ring/Tree 的依赖形状是否符合当前瓶颈？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49CD0-5EC1-4FDA-82E2-B01DB9E0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433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9433B"/>
                </a:solidFill>
                <a:latin typeface="PingFang SC"/>
                <a:ea typeface="PingFang SC"/>
                <a:cs typeface="PingFang SC"/>
              </a:rPr>
              <a:t>这比简单地说“调大 NCCL buffer”或“换 allreduce 算法”更可操作。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695448-6DFD-4094-88BB-4FE6EBA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514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88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887C"/>
                </a:solidFill>
                <a:latin typeface="Aptos"/>
                <a:ea typeface="Aptos"/>
                <a:cs typeface="Aptos"/>
              </a:rPr>
              <a:t>Source: Demystifying NCCL, arXiv 2507.04786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90773-5830-4F82-BEE7-AE1FA80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8E887C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4999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2026-05-12T07:56:56.2590000Z</dcterms:created>
  <dcterms:modified xsi:type="dcterms:W3CDTF">2026-05-12T07:56:56.2590000Z</dcterms:modified>
</coreProperties>
</file>
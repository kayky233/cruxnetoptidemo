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4582e35d8e497d" /><Relationship Type="http://schemas.openxmlformats.org/officeDocument/2006/relationships/extended-properties" Target="/docProps/app.xml" Id="Rbb7d3f871413406e" /><Relationship Type="http://schemas.openxmlformats.org/officeDocument/2006/relationships/officeDocument" Target="/ppt/presentation.xml" Id="R2e59d4b57d2e46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7b248e56374529"/>
  </p:sldMasterIdLst>
  <p:notesMasterIdLst>
    <p:notesMasterId xmlns:r="http://schemas.openxmlformats.org/officeDocument/2006/relationships" r:id="Rc0bdd7891b6b46f6"/>
  </p:notesMasterIdLst>
  <p:sldIdLst>
    <p:sldId xmlns:r="http://schemas.openxmlformats.org/officeDocument/2006/relationships" id="256" r:id="R49d7a2d2d5744f2c"/>
    <p:sldId xmlns:r="http://schemas.openxmlformats.org/officeDocument/2006/relationships" id="257" r:id="Rebde2ecaf83b4e95"/>
    <p:sldId xmlns:r="http://schemas.openxmlformats.org/officeDocument/2006/relationships" id="258" r:id="R0fecd8b85452433f"/>
    <p:sldId xmlns:r="http://schemas.openxmlformats.org/officeDocument/2006/relationships" id="259" r:id="R55b7825088694736"/>
    <p:sldId xmlns:r="http://schemas.openxmlformats.org/officeDocument/2006/relationships" id="260" r:id="Reca52ded5ba94fe2"/>
    <p:sldId xmlns:r="http://schemas.openxmlformats.org/officeDocument/2006/relationships" id="261" r:id="R0d0f8f96f0824f42"/>
    <p:sldId xmlns:r="http://schemas.openxmlformats.org/officeDocument/2006/relationships" id="262" r:id="R0ce843aa40594e9a"/>
    <p:sldId xmlns:r="http://schemas.openxmlformats.org/officeDocument/2006/relationships" id="263" r:id="R7283e838d7104395"/>
    <p:sldId xmlns:r="http://schemas.openxmlformats.org/officeDocument/2006/relationships" id="264" r:id="R39716f9b054e4850"/>
    <p:sldId xmlns:r="http://schemas.openxmlformats.org/officeDocument/2006/relationships" id="265" r:id="Ref7ffb9689214812"/>
    <p:sldId xmlns:r="http://schemas.openxmlformats.org/officeDocument/2006/relationships" id="266" r:id="Rfa1fd85ffb814cd3"/>
    <p:sldId xmlns:r="http://schemas.openxmlformats.org/officeDocument/2006/relationships" id="267" r:id="Ref0eed5f044c4a7d"/>
    <p:sldId xmlns:r="http://schemas.openxmlformats.org/officeDocument/2006/relationships" id="268" r:id="R078a07c3708f427a"/>
    <p:sldId xmlns:r="http://schemas.openxmlformats.org/officeDocument/2006/relationships" id="269" r:id="R1f585e40e7a14fbd"/>
    <p:sldId xmlns:r="http://schemas.openxmlformats.org/officeDocument/2006/relationships" id="270" r:id="R1b2e1858d37445ef"/>
    <p:sldId xmlns:r="http://schemas.openxmlformats.org/officeDocument/2006/relationships" id="271" r:id="Rea3f1ef2352e4b48"/>
    <p:sldId xmlns:r="http://schemas.openxmlformats.org/officeDocument/2006/relationships" id="272" r:id="R77812968263a458c"/>
    <p:sldId xmlns:r="http://schemas.openxmlformats.org/officeDocument/2006/relationships" id="273" r:id="R496a72ce7fd14dcb"/>
    <p:sldId xmlns:r="http://schemas.openxmlformats.org/officeDocument/2006/relationships" id="274" r:id="R74556f68fff84ddb"/>
    <p:sldId xmlns:r="http://schemas.openxmlformats.org/officeDocument/2006/relationships" id="275" r:id="Ra29e18848620491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7b248e56374529" /><Relationship Type="http://schemas.openxmlformats.org/officeDocument/2006/relationships/theme" Target="/ppt/theme/theme1.xml" Id="R28d718d809174630" /><Relationship Type="http://schemas.openxmlformats.org/officeDocument/2006/relationships/notesMaster" Target="/ppt/notesMasters/notesMaster1.xml" Id="Rc0bdd7891b6b46f6" /><Relationship Type="http://schemas.openxmlformats.org/officeDocument/2006/relationships/presProps" Target="/ppt/presProps.xml" Id="R2f503dbedc0440e7" /><Relationship Type="http://schemas.openxmlformats.org/officeDocument/2006/relationships/viewProps" Target="/ppt/viewProps.xml" Id="R9290f80f05e84ec8" /><Relationship Type="http://schemas.openxmlformats.org/officeDocument/2006/relationships/tableStyles" Target="/ppt/tableStyles.xml" Id="Rdf27b1548b9d49d0" /><Relationship Type="http://schemas.openxmlformats.org/officeDocument/2006/relationships/slide" Target="/ppt/slides/slide1.xml" Id="R49d7a2d2d5744f2c" /><Relationship Type="http://schemas.openxmlformats.org/officeDocument/2006/relationships/slide" Target="/ppt/slides/slide2.xml" Id="Rebde2ecaf83b4e95" /><Relationship Type="http://schemas.openxmlformats.org/officeDocument/2006/relationships/slide" Target="/ppt/slides/slide3.xml" Id="R0fecd8b85452433f" /><Relationship Type="http://schemas.openxmlformats.org/officeDocument/2006/relationships/slide" Target="/ppt/slides/slide4.xml" Id="R55b7825088694736" /><Relationship Type="http://schemas.openxmlformats.org/officeDocument/2006/relationships/slide" Target="/ppt/slides/slide5.xml" Id="Reca52ded5ba94fe2" /><Relationship Type="http://schemas.openxmlformats.org/officeDocument/2006/relationships/slide" Target="/ppt/slides/slide6.xml" Id="R0d0f8f96f0824f42" /><Relationship Type="http://schemas.openxmlformats.org/officeDocument/2006/relationships/slide" Target="/ppt/slides/slide7.xml" Id="R0ce843aa40594e9a" /><Relationship Type="http://schemas.openxmlformats.org/officeDocument/2006/relationships/slide" Target="/ppt/slides/slide8.xml" Id="R7283e838d7104395" /><Relationship Type="http://schemas.openxmlformats.org/officeDocument/2006/relationships/slide" Target="/ppt/slides/slide9.xml" Id="R39716f9b054e4850" /><Relationship Type="http://schemas.openxmlformats.org/officeDocument/2006/relationships/slide" Target="/ppt/slides/slide10.xml" Id="Ref7ffb9689214812" /><Relationship Type="http://schemas.openxmlformats.org/officeDocument/2006/relationships/slide" Target="/ppt/slides/slide11.xml" Id="Rfa1fd85ffb814cd3" /><Relationship Type="http://schemas.openxmlformats.org/officeDocument/2006/relationships/slide" Target="/ppt/slides/slide12.xml" Id="Ref0eed5f044c4a7d" /><Relationship Type="http://schemas.openxmlformats.org/officeDocument/2006/relationships/slide" Target="/ppt/slides/slide13.xml" Id="R078a07c3708f427a" /><Relationship Type="http://schemas.openxmlformats.org/officeDocument/2006/relationships/slide" Target="/ppt/slides/slide14.xml" Id="R1f585e40e7a14fbd" /><Relationship Type="http://schemas.openxmlformats.org/officeDocument/2006/relationships/slide" Target="/ppt/slides/slide15.xml" Id="R1b2e1858d37445ef" /><Relationship Type="http://schemas.openxmlformats.org/officeDocument/2006/relationships/slide" Target="/ppt/slides/slide16.xml" Id="Rea3f1ef2352e4b48" /><Relationship Type="http://schemas.openxmlformats.org/officeDocument/2006/relationships/slide" Target="/ppt/slides/slide17.xml" Id="R77812968263a458c" /><Relationship Type="http://schemas.openxmlformats.org/officeDocument/2006/relationships/slide" Target="/ppt/slides/slide18.xml" Id="R496a72ce7fd14dcb" /><Relationship Type="http://schemas.openxmlformats.org/officeDocument/2006/relationships/slide" Target="/ppt/slides/slide19.xml" Id="R74556f68fff84ddb" /><Relationship Type="http://schemas.openxmlformats.org/officeDocument/2006/relationships/slide" Target="/ppt/slides/slide20.xml" Id="Ra29e18848620491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0ce0c5d1bf64b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1b59e0c8074bea" /><Relationship Type="http://schemas.openxmlformats.org/officeDocument/2006/relationships/notesMaster" Target="/ppt/notesMasters/notesMaster1.xml" Id="R445be42e0d7443b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71c21a8458478c" /><Relationship Type="http://schemas.openxmlformats.org/officeDocument/2006/relationships/notesMaster" Target="/ppt/notesMasters/notesMaster1.xml" Id="R1ad0effe11a745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e432789fd9401a" /><Relationship Type="http://schemas.openxmlformats.org/officeDocument/2006/relationships/notesMaster" Target="/ppt/notesMasters/notesMaster1.xml" Id="R7f187505d39446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67508f63a8447e" /><Relationship Type="http://schemas.openxmlformats.org/officeDocument/2006/relationships/notesMaster" Target="/ppt/notesMasters/notesMaster1.xml" Id="R46f331aefc3b40f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c45c8d64dc49be" /><Relationship Type="http://schemas.openxmlformats.org/officeDocument/2006/relationships/notesMaster" Target="/ppt/notesMasters/notesMaster1.xml" Id="Rd183ee4dc04a44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0e181b666d64020" /><Relationship Type="http://schemas.openxmlformats.org/officeDocument/2006/relationships/notesMaster" Target="/ppt/notesMasters/notesMaster1.xml" Id="Rca2e6437c4e14e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539ae243034eef" /><Relationship Type="http://schemas.openxmlformats.org/officeDocument/2006/relationships/notesMaster" Target="/ppt/notesMasters/notesMaster1.xml" Id="R9732bb03737447e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af67f7cadf43a0" /><Relationship Type="http://schemas.openxmlformats.org/officeDocument/2006/relationships/notesMaster" Target="/ppt/notesMasters/notesMaster1.xml" Id="R1cef08a0f81d460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d4ebc7c269949cb" /><Relationship Type="http://schemas.openxmlformats.org/officeDocument/2006/relationships/notesMaster" Target="/ppt/notesMasters/notesMaster1.xml" Id="Rc72ed3277dde4ff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21d803166f44c5" /><Relationship Type="http://schemas.openxmlformats.org/officeDocument/2006/relationships/notesMaster" Target="/ppt/notesMasters/notesMaster1.xml" Id="R3084853f39b646f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fcca686a5c4559" /><Relationship Type="http://schemas.openxmlformats.org/officeDocument/2006/relationships/notesMaster" Target="/ppt/notesMasters/notesMaster1.xml" Id="Rc197a82f6fa940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adeca0bfde84efc" /><Relationship Type="http://schemas.openxmlformats.org/officeDocument/2006/relationships/notesMaster" Target="/ppt/notesMasters/notesMaster1.xml" Id="R643a8f4725ee43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49965204ff4793" /><Relationship Type="http://schemas.openxmlformats.org/officeDocument/2006/relationships/notesMaster" Target="/ppt/notesMasters/notesMaster1.xml" Id="R40fbbd37a4da4f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54896ccddd46c8" /><Relationship Type="http://schemas.openxmlformats.org/officeDocument/2006/relationships/notesMaster" Target="/ppt/notesMasters/notesMaster1.xml" Id="R31d2e50df18c45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bd29240ea75443f" /><Relationship Type="http://schemas.openxmlformats.org/officeDocument/2006/relationships/notesMaster" Target="/ppt/notesMasters/notesMaster1.xml" Id="Re540c44edddd408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d297e04ef2a4e8a" /><Relationship Type="http://schemas.openxmlformats.org/officeDocument/2006/relationships/notesMaster" Target="/ppt/notesMasters/notesMaster1.xml" Id="Re6554d9830ab479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10bcf08184746e5" /><Relationship Type="http://schemas.openxmlformats.org/officeDocument/2006/relationships/notesMaster" Target="/ppt/notesMasters/notesMaster1.xml" Id="Rf9992f12651149b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5f72bd5403946f9" /><Relationship Type="http://schemas.openxmlformats.org/officeDocument/2006/relationships/notesMaster" Target="/ppt/notesMasters/notesMaster1.xml" Id="R016345a561a54931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1962c18c95a4f2f" /><Relationship Type="http://schemas.openxmlformats.org/officeDocument/2006/relationships/notesMaster" Target="/ppt/notesMasters/notesMaster1.xml" Id="R1fb2b082399e473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83f1799e99f45ce" /><Relationship Type="http://schemas.openxmlformats.org/officeDocument/2006/relationships/notesMaster" Target="/ppt/notesMasters/notesMaster1.xml" Id="R8d0bd7fefb5842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153d04bd4b42a6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761a7f12b8cb4e72" /><Relationship Type="http://schemas.openxmlformats.org/officeDocument/2006/relationships/slideLayout" Target="/ppt/slideLayouts/slideLayout2.xml" Id="Rca9e83215e3c4e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9e83215e3c4e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481a91046f64e52" /><Relationship Type="http://schemas.openxmlformats.org/officeDocument/2006/relationships/notesSlide" Target="/ppt/notesSlides/notesSlide1.xml" Id="Ra9bdb6070a1e4a2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7f393067294526" /><Relationship Type="http://schemas.openxmlformats.org/officeDocument/2006/relationships/notesSlide" Target="/ppt/notesSlides/notesSlide2.xml" Id="R2d14193cd81f45d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f232733c7f4f46" /><Relationship Type="http://schemas.openxmlformats.org/officeDocument/2006/relationships/notesSlide" Target="/ppt/notesSlides/notesSlide3.xml" Id="R849b45866b8442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8f721a6f174258" /><Relationship Type="http://schemas.openxmlformats.org/officeDocument/2006/relationships/notesSlide" Target="/ppt/notesSlides/notesSlide4.xml" Id="Rd55040e6b23d4d5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c71a6b5b8914124" /><Relationship Type="http://schemas.openxmlformats.org/officeDocument/2006/relationships/image" Target="/ppt/media/image.png" Id="Rc3d91fd3942046b7" /><Relationship Type="http://schemas.openxmlformats.org/officeDocument/2006/relationships/notesSlide" Target="/ppt/notesSlides/notesSlide5.xml" Id="R04045c8f596a44d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56e9a0615d49af" /><Relationship Type="http://schemas.openxmlformats.org/officeDocument/2006/relationships/notesSlide" Target="/ppt/notesSlides/notesSlide6.xml" Id="R2d7d1e93df5446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581380ffad40bd" /><Relationship Type="http://schemas.openxmlformats.org/officeDocument/2006/relationships/notesSlide" Target="/ppt/notesSlides/notesSlide7.xml" Id="R882f6c520d3b44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5ac4e4a6634373" /><Relationship Type="http://schemas.openxmlformats.org/officeDocument/2006/relationships/image" Target="/ppt/media/image2.png" Id="R02fb2993fd7b44e5" /><Relationship Type="http://schemas.openxmlformats.org/officeDocument/2006/relationships/notesSlide" Target="/ppt/notesSlides/notesSlide8.xml" Id="Rdb6f8ee22609406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804c92f8e1847c7" /><Relationship Type="http://schemas.openxmlformats.org/officeDocument/2006/relationships/image" Target="/ppt/media/image3.png" Id="R82808d62911140c6" /><Relationship Type="http://schemas.openxmlformats.org/officeDocument/2006/relationships/notesSlide" Target="/ppt/notesSlides/notesSlide9.xml" Id="R2490dbe8c06d40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e2fa85f9fd4893" /><Relationship Type="http://schemas.openxmlformats.org/officeDocument/2006/relationships/notesSlide" Target="/ppt/notesSlides/notesSlide10.xml" Id="R822601d128434cb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6a389605c94a98" /><Relationship Type="http://schemas.openxmlformats.org/officeDocument/2006/relationships/notesSlide" Target="/ppt/notesSlides/notesSlide11.xml" Id="Rc4a6baa62a71459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34a83bb3d549b8" /><Relationship Type="http://schemas.openxmlformats.org/officeDocument/2006/relationships/notesSlide" Target="/ppt/notesSlides/notesSlide12.xml" Id="Rb8a6037cd0ff493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862a7d02c340f1" /><Relationship Type="http://schemas.openxmlformats.org/officeDocument/2006/relationships/notesSlide" Target="/ppt/notesSlides/notesSlide13.xml" Id="Rc4d63c3ecd1142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f868dcf864a4b51" /><Relationship Type="http://schemas.openxmlformats.org/officeDocument/2006/relationships/image" Target="/ppt/media/image4.png" Id="Rdc4f8d8c6b114cda" /><Relationship Type="http://schemas.openxmlformats.org/officeDocument/2006/relationships/notesSlide" Target="/ppt/notesSlides/notesSlide14.xml" Id="R269c246ae73a452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368ee53b9504313" /><Relationship Type="http://schemas.openxmlformats.org/officeDocument/2006/relationships/notesSlide" Target="/ppt/notesSlides/notesSlide15.xml" Id="Rdb6aa9c6d6744e4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93400629c4465b" /><Relationship Type="http://schemas.openxmlformats.org/officeDocument/2006/relationships/image" Target="/ppt/media/image5.png" Id="R1014bf192bd64d3c" /><Relationship Type="http://schemas.openxmlformats.org/officeDocument/2006/relationships/notesSlide" Target="/ppt/notesSlides/notesSlide16.xml" Id="R8de3fe4de74e40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75baefbb34c49b4" /><Relationship Type="http://schemas.openxmlformats.org/officeDocument/2006/relationships/notesSlide" Target="/ppt/notesSlides/notesSlide17.xml" Id="Rdaba6f117a79498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9661ba764145b4" /><Relationship Type="http://schemas.openxmlformats.org/officeDocument/2006/relationships/image" Target="/ppt/media/image6.png" Id="R2e92f011fbca41a2" /><Relationship Type="http://schemas.openxmlformats.org/officeDocument/2006/relationships/notesSlide" Target="/ppt/notesSlides/notesSlide18.xml" Id="R605cad27d4884ad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0532ca2f11a4160" /><Relationship Type="http://schemas.openxmlformats.org/officeDocument/2006/relationships/notesSlide" Target="/ppt/notesSlides/notesSlide19.xml" Id="Rf3bd0f7af698410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e92fde967248ba" /><Relationship Type="http://schemas.openxmlformats.org/officeDocument/2006/relationships/notesSlide" Target="/ppt/notesSlides/notesSlide20.xml" Id="R167b6c932f52431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2CE061-0D85-408E-AE15-724E8B0C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C7B0E-D314-49B8-83CD-B4E61EFE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STANDALONE TECHNICAL DECK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C64B72-E08C-4E9D-9304-935F6EDA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36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NCCL 内部机制详解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38F07-9BF9-4F5A-AAC8-5B858CC2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8595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1650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协议、数据路径、Ring/Tree collective 与性能结论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AE6DE-BC71-4C68-96BD-A0475865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62400"/>
            <a:ext cx="166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9525">
            <a:solidFill>
              <a:srgbClr val="39C6D6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4F661-7BD3-45DF-A053-53313A6DE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1514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111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E1114"/>
                </a:solidFill>
                <a:latin typeface="Aptos"/>
                <a:ea typeface="Aptos"/>
                <a:cs typeface="Aptos"/>
              </a:rPr>
              <a:t>API 与 communicator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7C2A77-684F-4588-9D44-7904430A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3962400"/>
            <a:ext cx="166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C"/>
          </a:solidFill>
          <a:ln xmlns:a="http://schemas.openxmlformats.org/drawingml/2006/main" w="9525">
            <a:solidFill>
              <a:srgbClr val="F1B64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B49CD-DC6F-42B0-B644-D854A8CCA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4010025"/>
            <a:ext cx="1514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111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E1114"/>
                </a:solidFill>
                <a:latin typeface="Aptos"/>
                <a:ea typeface="Aptos"/>
                <a:cs typeface="Aptos"/>
              </a:rPr>
              <a:t>channel / loop / chunk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BDD55F-30D2-4220-9BE9-83247EB8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62400"/>
            <a:ext cx="166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9525">
            <a:solidFill>
              <a:srgbClr val="72C76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DE197E-DD27-44FE-A016-93593518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10025"/>
            <a:ext cx="1514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111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E1114"/>
                </a:solidFill>
                <a:latin typeface="Aptos"/>
                <a:ea typeface="Aptos"/>
                <a:cs typeface="Aptos"/>
              </a:rPr>
              <a:t>Simple / LL / LL128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2D7EE3-5427-4BA1-93FD-54B6F155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962400"/>
            <a:ext cx="166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7FF"/>
          </a:solidFill>
          <a:ln xmlns:a="http://schemas.openxmlformats.org/drawingml/2006/main" w="9525">
            <a:solidFill>
              <a:srgbClr val="72A7F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09206-0CC9-4970-8D3D-7A2A9065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4010025"/>
            <a:ext cx="1514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111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E1114"/>
                </a:solidFill>
                <a:latin typeface="Aptos"/>
                <a:ea typeface="Aptos"/>
                <a:cs typeface="Aptos"/>
              </a:rPr>
              <a:t>P2P / SHM / IB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3F18B-9804-40E0-BDA2-CD0CE09C0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62400"/>
            <a:ext cx="1666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B5E"/>
          </a:solidFill>
          <a:ln xmlns:a="http://schemas.openxmlformats.org/drawingml/2006/main" w="9525">
            <a:solidFill>
              <a:srgbClr val="E86B5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87E53-B0FE-43A3-BFF3-26769B03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10025"/>
            <a:ext cx="15144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111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E1114"/>
                </a:solidFill>
                <a:latin typeface="Aptos"/>
                <a:ea typeface="Aptos"/>
                <a:cs typeface="Aptos"/>
              </a:rPr>
              <a:t>Ring / Tree AllReduce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A68D9-3179-45D3-B987-271B063A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572125"/>
            <a:ext cx="962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目标：读完这份 PPT 后，可以独立解释 NCCL 如何把一次 collective 拆成 GPU kernel、channel、primitive、transport 和 protocol 的组合。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DE65EC-1623-4CE9-B3C2-7E0A36D0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FDCF4C-1541-4BEC-B395-B2386F7D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5201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20E52F-5C5A-4367-BBDF-E3F7F6D3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8CFEB9-B669-4E6A-A9E2-B7F343086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6E15D-6C56-4ABD-8748-8EB61BAA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ONE-SLIDE 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E1E20-4E12-463E-B6A8-73479ADA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NCCL 的性能来自五层机制共同作用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47377-8048-4ADE-9E12-6114D8AE5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越往下越接近硬件；调优和排障时要先判断瓶颈属于哪一层。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FD69A4-6042-4401-AE89-C47986BB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494312-F5E3-4367-9B6A-9D4729E6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CA9DA-210C-4107-824C-B54AD146E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7621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BC339-92C5-4C52-B363-DFBF13FC6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B74898-21C4-4F38-AFF6-9F9B8658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47925"/>
            <a:ext cx="1495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API /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440989-3AFA-4E23-BA93-CB421C6D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14625"/>
            <a:ext cx="14954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AllReduce、Broadcast、P2P、Group 调用形成 work descriptor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754B09-318A-47FA-BEF2-C257D4F1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17621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226BE-3658-46F0-9C07-1801E08A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33625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F8242-9591-4353-BFC8-44D1E3F5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47925"/>
            <a:ext cx="1495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Topology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4370F3-D567-4574-99AB-38CDEA12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714625"/>
            <a:ext cx="14954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communicator 初始化时建立 rank、channel、ring/tree 逻辑拓扑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167025-1034-48E1-BEB0-08C0449C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17621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9D9A13-C72D-498A-8508-E3045DEB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33625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C9190-9185-4E70-A755-7CA993604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47925"/>
            <a:ext cx="1495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954588-3E78-4188-A2A5-924EDE23D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714625"/>
            <a:ext cx="14954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每个 channel 对应 CUDA block，block 内 warp 执行 primitive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3568C3-5755-4587-9EC3-89184B98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17621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28FDDB-9338-4BD7-8D0D-5F6426EA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7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9B2730-043B-4B1D-A713-B6509F0A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447925"/>
            <a:ext cx="1495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899967-A2B3-4DFB-93A7-F5248683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714625"/>
            <a:ext cx="14954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Simple、LL、LL128 决定同步方式、slot 大小、payload 效率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51DF81-EBE7-404A-B6BB-4D5F449F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17621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F90AAB-FE6D-4F08-B2AE-EEBEEA94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33625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B5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E331E4-2C59-45B3-B8A9-CC65D8DA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47925"/>
            <a:ext cx="14954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Transport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B6D5DD6-F963-492D-ABCB-0C66F9B3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14625"/>
            <a:ext cx="14954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节点内 P2P/SHM/NVLS；跨节点 Socket/IB/GDRDMA/CollNet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494CCC-0A99-4A21-98EB-870D0E97F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9700"/>
            <a:ext cx="9810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一个 collective 的真实执行路径可以理解为：work 被切到多个 channel，每个 channel 用一段 primitive 序列处理自己的 data slice，再由 protocol 和 transport 决定每个 step 怎么同步、怎么搬数据。</a:t>
            </a:r>
          </a:p>
        </p:txBody>
      </p:sp>
    </p:spTree>
    <p:extLst>
      <p:ext uri="{BB962C8B-B14F-4D97-AF65-F5344CB8AC3E}">
        <p14:creationId xmlns:p14="http://schemas.microsoft.com/office/powerpoint/2010/main" val="120195735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BA2633-DF27-45E8-97EE-C23C2667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81A2A-5178-4BE1-80A5-D3A2AA3B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D248C6-9D80-4070-ABFF-6F95BC01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API SURFACE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02466-CCEA-4609-826D-E2D732DE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API 很像 MPI，但执行模型是 GPU-centric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C18BB-52B2-4402-999E-F2F6DE63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应用只看到 collective 函数；NCCL 内部围绕 GPU memory、CUDA kernel、device topology 做调度。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9CC27-3EB3-441B-B211-FAF1C365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0A9E2-538D-4433-A5EF-818E0BCD7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C83A0A-1CB5-463F-83E9-DF7D7926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7261C-93B0-4C2F-A990-FC86226A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5FD9B-95D8-407D-98CC-990B2575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Communicator lifecycle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7E84B-B682-43AE-A69C-F92BF23F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2114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ncclCommInitAll：单进程多 GPU</a:t>
            </a:r>
          </a:p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ncclCommInitRank：多进程/分布式</a:t>
            </a:r>
          </a:p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Destroy 等待 pending work；Abort 用于异常恢复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0667B6-8E93-4B4D-AB01-2242562A8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479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F98110-71FB-4FDD-BB8A-3B74CF1B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479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0111A-8458-43FB-949D-F2FD4EB7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36220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Collective calls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93E6A-CA13-4172-B304-FB33F7B9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28900"/>
            <a:ext cx="2114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AllReduce、Broadcast、Reduce、AllGather、ReduceScatter；训练最常见的是 AllReduce / ReduceScatter / AllGather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5D803-C3C0-49DF-9E30-EA1769BC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BD0584-5552-4B50-BE91-4CBE053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479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E9A7C-F7C2-485F-8181-600FD074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6220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P2P and group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5EC41-2294-4A4C-9D3F-3A72F93E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28900"/>
            <a:ext cx="2114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ncclSend / ncclRecv 提供点对点；GroupStart / GroupEnd 把多次操作合并，减少 launch 和调度开销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31D7CE-ECD5-4824-8601-61392508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47900"/>
            <a:ext cx="2381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4C6286-61FA-4CFA-8567-9D695EC3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24790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7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17CDDF-843A-400A-BBB4-7FB2D0FA0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36220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Runtime selection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F55A13-EBA1-4551-A8D2-DC2106CA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28900"/>
            <a:ext cx="21145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根据 message size、topology、GPU 架构和资源选择 algorithm + protocol + channel 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1B407D-9D24-434D-9B7B-5CC3495E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1000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71450" tIns="123825" rIns="171450" bIns="12382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重点：API 并不暴露 algorithm/protocol。默认情况下 NCCL 会自动选择；环境变量如 NCCL_PROTO 可以覆盖 protocol，但通常只适合定位问题或做 targeted tuning。</a:t>
            </a:r>
          </a:p>
        </p:txBody>
      </p:sp>
    </p:spTree>
    <p:extLst>
      <p:ext uri="{BB962C8B-B14F-4D97-AF65-F5344CB8AC3E}">
        <p14:creationId xmlns:p14="http://schemas.microsoft.com/office/powerpoint/2010/main" val="12736294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93AE8A-6929-4AFA-935A-27E4B52B8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C50A17-00B0-46AA-BDA6-CAB3A21A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390A55-5B83-4A6B-8BE8-3980608B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COMMUNICATOR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F8DF54-E238-4F79-A844-0587C089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channel 和逻辑拓扑在初始化阶段就准备好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ADDD5A-514D-4B43-B53D-F341E0EB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NCCL 后续重复使用这些结构，把不同 collective 映射成 ring、tree 或硬件特化路径。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41D09-53BE-4C25-90C7-5FF2B06E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2C8C6-BE44-415F-BD18-036A2416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96270-6FB3-4798-94B8-56478F7F4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2286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F29E7F-880D-415F-A4D3-176C8A3E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4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27A1A-D2BC-4EB7-852C-A8DD5E3BB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Rank metadata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33AA6-D0BE-442A-B980-4BDD73AA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0193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每个 GPU 是一个 rank；comm 保存 rank 数、local rank、peer 信息、CUDA stream 与 device comm。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F0A496-4E1B-4917-9C54-ECF8226D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286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511DCF-834A-43D8-9D2B-0F67936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4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308391-0738-4A2A-AF4D-65407D88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Channel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512E26-17FC-46D9-81A8-EBAD16B2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47950"/>
            <a:ext cx="20193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每个 channel 保存 send/recv peers、buffer、protocol resource、active mask。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7B0DC5-70F8-46EA-8E02-5FEFBD0A8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2286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8A4632-52D4-4629-81E4-E4176446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4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0DE33-56A5-4B74-800D-9A85B923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Ring topology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27BB95-8C9D-4C60-9950-3921F638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47950"/>
            <a:ext cx="20193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每个 rank 只需要 predecessor / successor；适合 pipeline 化大消息。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7B5961-B6D5-4308-BEE7-C96687CE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22860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3E7769-34BA-4BD5-8213-79F0DB8F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266950"/>
            <a:ext cx="4762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7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179ADA-D3AC-432A-B533-AA5043ADA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81250"/>
            <a:ext cx="2019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Tree topology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5CE976-FACB-46AE-95B8-19AD93E2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47950"/>
            <a:ext cx="20193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保存 parent / children；NCCL 使用 double binary tree 提升带宽利用。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2D169B-9C54-4E59-80F9-CA28CFA0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8150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9B0FC0-0072-42EC-9DA1-D3BBF8EFA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57700"/>
            <a:ext cx="2038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E1114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0E1114"/>
                </a:solidFill>
                <a:latin typeface="Aptos"/>
                <a:ea typeface="Aptos"/>
                <a:cs typeface="Aptos"/>
              </a:rPr>
              <a:t>Topology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4DF1DD-C1F7-4BBF-9368-7BD89889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81500"/>
            <a:ext cx="3238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9011852-3E14-4683-A63F-A2AE872F3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57700"/>
            <a:ext cx="3086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What each rank tracks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3856C0-8D0D-44D3-9508-2A562FC2D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81500"/>
            <a:ext cx="400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35BE32-85C2-4CCB-BB0B-B627D0DA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57700"/>
            <a:ext cx="3848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Why it matters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F2248DB-753B-416D-902C-DA09D6160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FCDFDA-5977-4104-BB2F-C47BF87E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67275"/>
            <a:ext cx="2038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00165-476C-417F-B375-64DE345B9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91075"/>
            <a:ext cx="3238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043961A-D7E3-422C-96EA-0E4A4A8F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67275"/>
            <a:ext cx="3086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prev / next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095D270-5B14-4650-A71B-26BFA577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91075"/>
            <a:ext cx="400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150525-8FCA-443C-AB1D-919C8DDD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67275"/>
            <a:ext cx="3848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依赖链长，但链路利用高，适合大消息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30547C-29DC-4851-BA5A-B1B35276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00650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3AFF51-3532-4B40-A97C-49BEC788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76850"/>
            <a:ext cx="2038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Tree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9F135D-3359-4935-BB19-23511784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00650"/>
            <a:ext cx="3238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2AFF67-98BB-45A5-9D05-D08540356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76850"/>
            <a:ext cx="3086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parent / children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3B3710-292F-40AF-A502-F2A2D099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00650"/>
            <a:ext cx="400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26828E-2BB9-44B3-9403-B064C492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76850"/>
            <a:ext cx="3848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依赖深度低，小消息延迟更好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60B2A57-A20C-4DE5-9E78-4978E9E5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0225"/>
            <a:ext cx="21907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C28FEB-889E-44F8-80AB-AE4ACA852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86425"/>
            <a:ext cx="20383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Double binary tree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471E299-6864-4ACE-A754-D0F21555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10225"/>
            <a:ext cx="3238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C042BA-8D48-4634-85E9-8D86D7A1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686425"/>
            <a:ext cx="3086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两个互补 tree；节点不会同时在两棵树都是非叶子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5BDF3D1-B63B-4E5F-9E6B-1607D521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10225"/>
            <a:ext cx="40005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951E78-3646-4220-99CE-0BBE7CD3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686425"/>
            <a:ext cx="38481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减少热点，让更多 rank 参与转发</a:t>
            </a:r>
          </a:p>
        </p:txBody>
      </p:sp>
    </p:spTree>
    <p:extLst>
      <p:ext uri="{BB962C8B-B14F-4D97-AF65-F5344CB8AC3E}">
        <p14:creationId xmlns:p14="http://schemas.microsoft.com/office/powerpoint/2010/main" val="192226713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5EBB62-C9D7-400F-A1CE-28A3E72C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1E03A-C55A-4548-8F14-B22C9B4D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B8B5AE-6051-49F1-98E5-BE396982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CHANNEL EXECUTION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1AF09-B617-47F7-92D5-BEAD23D9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一次 tensor 传输被切成 channel、loop、chunk、slot 四个层级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71D311-D398-4500-B5A0-0C1B0F07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这个层级结构解释了 NCCL 的 pipeline、并行度和为什么 channel 数会影响吞吐。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0BA35B-F43A-4F47-B061-9660E91E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545FF-DD05-4569-98E9-79BD15DEA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B5F84C-5615-4415-8EE4-506DF481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143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d91fd3942046b7"/>
          <a:stretch xmlns:a="http://schemas.openxmlformats.org/drawingml/2006/main"/>
        </p:blipFill>
        <p:spPr>
          <a:xfrm xmlns:a="http://schemas.openxmlformats.org/drawingml/2006/main">
            <a:off x="857250" y="2352675"/>
            <a:ext cx="4810125" cy="3238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C61D4-A111-4F34-B052-4BE9131D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CCF3FA-726B-42B4-8FF2-6051E8EE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27E06C-4D0A-4198-B7EB-2B608852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52675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1. Channel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1B7E3-7AEF-4E06-8DD8-2C38B5CB3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19375"/>
            <a:ext cx="3733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总数据先按 channel 数切片；每个 channel 负责一个连续 data region。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7B2B19-7E0D-4620-AE21-1AACAC33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2E9AC-E1E5-4DB2-B3F8-3DB6961A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A261E1-1414-467E-8414-0754C32E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2800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2. Loop over region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3EE0D7-6A59-4FE6-AC06-E8A802F4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19500"/>
            <a:ext cx="3733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region 大于 channel buffer 时，outer loop 分批处理 loopCount。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2DB39D-6645-4CCB-AF9A-9FFCFE83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853FCC-D933-4FFE-84DE-67EB88C3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35E2B-66B1-4924-B66A-61E7960B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52925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3. Chunk and slot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8B6F12-6BC7-40D7-BC68-F086A4BC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9625"/>
            <a:ext cx="3733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每个 loop 里按 chunkCount 进入 slot；slot 承载同步、copy、reduce 的 pipeline。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DAB528-28B9-4610-9291-DF148764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38750"/>
            <a:ext cx="4000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62FFD0-3E94-49C4-88B3-AF4448AAA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387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7FF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9501B-0B23-4FBC-8BBB-DBBAAB8B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53050"/>
            <a:ext cx="3733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4. CUDA mapping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A1686F-EB60-45AD-9DB6-8569C7F56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19750"/>
            <a:ext cx="3733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通常一个 channel 映射一个 CUDA block；block 内多个 warp 执行通信与规约。</a:t>
            </a:r>
          </a:p>
        </p:txBody>
      </p:sp>
    </p:spTree>
    <p:extLst>
      <p:ext uri="{BB962C8B-B14F-4D97-AF65-F5344CB8AC3E}">
        <p14:creationId xmlns:p14="http://schemas.microsoft.com/office/powerpoint/2010/main" val="143905199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371A6B-3175-4F29-A1A5-8DB09A0B8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1291DB-808E-45EF-AA98-5390B181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070B82-6175-4FE5-8EED-19587CC53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PROTOCOL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2AAA7D-F158-4D55-9438-2C7CE7EF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Simple、LL、LL128 的核心差异是同步粒度和有效载荷比例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E4390-EE4C-467C-AD46-7519113E3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同一个 Ring/Tree 算法换 protocol，会改变 slot 大小、flag 成本和可达到带宽。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4511F6-862E-4777-8224-5221DCE1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C9D452-B550-484A-AE5E-9D1A31A3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E4B3B-8227-4DCA-A18E-1377ACDB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BA2C5-72F3-4E82-8F12-C3E3752B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E1114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0E1114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3FA8C-FBC4-45AC-BD8D-0669A1EA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955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F4044-0E4C-4367-BA1B-A41AEADA8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1717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Primary goal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00AC9-2713-4E88-9B7A-86AAA530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955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821C8D-94E6-4276-AB0D-907D6966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717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Sync mechanism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D1A2C-924B-4C79-92E0-69FD95D0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095500"/>
            <a:ext cx="2238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20903C-6615-4959-B84D-1EE8076D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71700"/>
            <a:ext cx="2085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Transfer unit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03446-34EF-478B-8B1A-A857EDF0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095500"/>
            <a:ext cx="1762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97DA71-5132-4ECB-88AE-6DB22DA8C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171700"/>
            <a:ext cx="1609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Effective BW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2F0F2B-D82B-4873-B323-B7D46B10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955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28C3EC-7CB3-45CA-BBF7-44BC0A67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717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Typical fit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ABD5EF-3C42-4903-A7C5-1232F138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DB79C-5FA0-40B3-8BF1-57487BF8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Simple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0D0656-2E99-4361-9F47-6AED33E6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5717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2385AC-CCE1-40DE-ABAB-6CE88FF9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6479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高吞吐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CA53FB-93B5-4FD7-8C31-A24A6654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5717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8C54BD-5356-4DBA-BAC6-8EEBD1DB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6479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memory fence / chunk visible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5E9255-7A8E-452D-8EC2-ECF0BA8E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71750"/>
            <a:ext cx="2238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F80A89-3F93-4BA8-A910-BCD001B2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647950"/>
            <a:ext cx="2085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large data chunk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7E5175-05CC-4A41-9BD1-AF29F67E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571750"/>
            <a:ext cx="1762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C9A39D-A8C4-4ED2-81EB-02BD0FAE2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647950"/>
            <a:ext cx="1609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接近峰值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04780C-6EC2-4BC8-B7F5-DB83358A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5717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79F08A-51B0-4D7E-A543-C55E8426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479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大消息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8F6DA3-955F-4BD8-AF87-795FE432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15C21E-11DE-48ED-BF74-5CE7A02A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72A2C7-AC9A-4733-966D-0C0324F4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480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A56D8BA-1F18-4B66-9055-85E5A4F0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242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低延迟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14AA39-661D-4E6A-9793-5E2D8F8B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254940-43BA-4CB3-916E-AFE7B563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2420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flag-based atomic write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C9465D-A22D-4995-B674-F507A4E5F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48000"/>
            <a:ext cx="2238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DC6905B-0A7D-46C4-86D2-3D5A7016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124200"/>
            <a:ext cx="2085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4B data + 4B flag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B05DEDD-32A8-4E59-AE01-ED97D7DB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048000"/>
            <a:ext cx="1762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78B213-F645-4616-9239-CD4069025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124200"/>
            <a:ext cx="1609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约 25-50% peak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C27DDB5-04D6-49DB-898B-89972F0FD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04800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B942DD-9504-4EFA-AEFB-74A76B0F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2420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小消息/控制敏感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19616C-314D-4035-88ED-13C7EE36B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2156AD-1254-48C3-A8B5-3434EFBF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99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LL128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9523408-D95A-4A88-BE60-1195AB5F3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5242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1F52A11-339D-422F-B13B-D108C566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004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低延迟 + 高带宽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8C53D9-E374-4BE5-8AE0-A7BAC7D3C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524250"/>
            <a:ext cx="1809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AC550C3-58A3-480A-A387-0C86CDA4A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600450"/>
            <a:ext cx="1657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flag-based 128B atomic write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A161DF-5D43-41EB-A735-1B35E322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24250"/>
            <a:ext cx="2238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F093C0-0782-4C52-8286-50F2F049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00450"/>
            <a:ext cx="2085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120B data + 8B flag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9D03A8D-760E-4730-A6B1-8033B85D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524250"/>
            <a:ext cx="17621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030005-0612-4CA4-AAE1-DCB38836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3600450"/>
            <a:ext cx="1609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可接近 95% peak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B29E2E2-B9ED-4BB3-9350-4975A231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524250"/>
            <a:ext cx="1714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CF0117-58E6-4796-BF1A-4AA35013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6004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NVLink / 合适硬件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75489B-79DF-4C35-85A2-B551047D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86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C41B2C-8E63-4195-8612-0841BB218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4291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Simple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06135F-2459-4AD3-A8C7-2C58AC5D5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482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同步事件少，payload 占比高；小消息会被 fence/launch 等固定成本放大。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9F9C167-6C72-49AC-AFD0-B1B599D6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486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C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C5254B-42EB-4127-8EB8-38516003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291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LL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120384-AB2C-4D8B-9CB4-E848ED0E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6482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每个传输单元一半是 flag，牺牲带宽换低延迟和细粒度可见性。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7678BC7-672A-40A9-A161-572846AD8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86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86425C4-56DF-416E-A432-C11127AE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29125"/>
            <a:ext cx="2857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LL128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3A67F4A-8CFF-479E-ABA8-0171B305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2857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以 128B 写入把 flag 成本摊薄，依赖硬件路径；跨节点大消息不一定胜出。</a:t>
            </a:r>
          </a:p>
        </p:txBody>
      </p:sp>
    </p:spTree>
    <p:extLst>
      <p:ext uri="{BB962C8B-B14F-4D97-AF65-F5344CB8AC3E}">
        <p14:creationId xmlns:p14="http://schemas.microsoft.com/office/powerpoint/2010/main" val="146815177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D64477-45AC-482F-AAEC-3A7F0EAE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CBDD7-AA86-4F58-9464-D8351D281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27822-32A2-4A87-AA31-53017FD8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BUFFER GRANULARITY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9F960E-B616-428F-8FA9-DF74804D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protocol 的 buffer 参数直接决定 pipeline 形状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D9DA4F-355E-462D-9835-A81D8A45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slot 越大，吞吐效率通常越好；slot 越小，等待时间和同步延迟更低。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1B4A98-E7A2-481F-BECB-09039E5B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4EE10-6E24-4C40-B353-E3D40CC89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EAAF94-B91B-4321-AC36-063D3439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860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976D5A-23B1-4B64-B3F7-F18A1763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622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111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E1114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2EDD89-93C4-4DF5-96E2-5CADBAE4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86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D228DE-4788-47CB-8434-25F8E4A2E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2228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Total channel buffer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C993F0-864D-4162-BAC3-4409B1C7C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860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4A3DC8-6AF1-4F4B-9858-96DFC39E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622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Buffer capacity per slot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09F423-19EA-49CF-A517-57D77353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80EC9B-19C1-4F05-9AA9-1CFC2F4FB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622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825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Effective data per slot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5E77F2-1CBD-45F2-9CE9-ED48918B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384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41F03B-E723-47AE-A3C0-0963A80F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146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Simple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C0FABA-D22B-4D21-A58E-4ED12EFC2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38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4830A6-99A8-4AD7-8D74-9E680A5E3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14650"/>
            <a:ext cx="2228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4 MiB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41C366-E0F4-4E10-A42C-9BC8AB8E4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384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0FCE0-B7BC-4C3C-B19F-C798B5EE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146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512 KiB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04035C-DCF4-4ABC-9A3F-87F30D76A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384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9A1D82-93E6-4812-ACC2-24A07E7E0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512 KiB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9472AA-62C4-48D4-8502-57CCBF97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9090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5618CC-F287-4D65-905E-7D177A6A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6710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0425025-0CBA-45E4-ABC3-E349831D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90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28462B-83CC-4173-9542-1C352C423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67100"/>
            <a:ext cx="2228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256 KiB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711C0F-7161-4E8E-B089-3F281E25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90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421143A-0807-4AA9-AD34-24102F58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671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32 KiB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42CD66-4701-4595-A589-665FD56E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90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A35027-03AF-457D-AF3E-F9AF057DC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6710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16 KiB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C892A35-12BC-4CF7-A680-C431CA5E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870D81-4CE6-403D-BF7C-B4FAD25D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19550"/>
            <a:ext cx="1943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LL128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02CB4D-90E7-4772-A3D8-25C71A07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43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0E6566-0F19-4DAF-A3BD-366E06EE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19550"/>
            <a:ext cx="2228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~4800 KiB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D49B3D1-1EB5-4CA4-9CF8-09758A74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433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A18DC7-C82D-4724-93FD-F5BCAC99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0195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600 KiB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D9435E-1068-48C9-A1E5-5EC2CBE7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94335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68867A-E2F4-4334-BAD5-81DFB44C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19550"/>
            <a:ext cx="2324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562.5 KiB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0B56E29-B27C-4332-91FE-5FC563B3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62500"/>
            <a:ext cx="8382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33350" rIns="190500" bIns="1333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读法：channel buffer 是每条 channel 可用于 pipeline 的空间；slot 是协议一次同步/传输的基本窗口；effective data 排除 flag 或协议元数据。LL 的有效载荷只有 slot 的一半，所以它的低延迟不是免费得到的。</a:t>
            </a:r>
          </a:p>
        </p:txBody>
      </p:sp>
    </p:spTree>
    <p:extLst>
      <p:ext uri="{BB962C8B-B14F-4D97-AF65-F5344CB8AC3E}">
        <p14:creationId xmlns:p14="http://schemas.microsoft.com/office/powerpoint/2010/main" val="172389600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4DDD05-1340-4E31-98A8-D59F7657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47BC51-F0E1-4638-AB9B-9226B420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D4CBF5-54A2-49AF-9EEB-B5A76AF0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INTRA-NODE TRANSFER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06D2FE-4968-451F-93BC-761FB567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节点内优先走 GPU-to-GPU，只有条件不满足时才退回 host staging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D80E3A-525F-4723-8BA5-9065DE42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图中绿色是 P2P 路径，红色是共享 host memory fallback。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51492-0197-4D22-A365-E2BC9E87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D3BDF-32B4-45B5-B421-378E820C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3626B-1EC5-4E2E-8EAE-51D4ACF1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5810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fb2993fd7b44e5"/>
          <a:stretch xmlns:a="http://schemas.openxmlformats.org/drawingml/2006/main"/>
        </p:blipFill>
        <p:spPr>
          <a:xfrm xmlns:a="http://schemas.openxmlformats.org/drawingml/2006/main">
            <a:off x="848824" y="2400300"/>
            <a:ext cx="5360377" cy="2952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6ADB9E-6467-4E6E-AEA1-068C09C7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38375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B38B58-7681-47B8-A322-A959193D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3837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C0EE0E-07ED-4260-A1BA-93B1439A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52675"/>
            <a:ext cx="354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P2P_DIRECT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7608C-A138-481F-9806-3A00EBA57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619375"/>
            <a:ext cx="3543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同进程、地址空间可直接访问时，send buffer / recv buffer 可以被对端 GPU 直接读写，路径最短。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837903-5985-4C5C-8173-9FC7490D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33750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D5E03-B8BE-45E9-B55C-939BC56C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33750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771CD3-DFAF-4B27-A6F3-A82A2082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448050"/>
            <a:ext cx="354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P2P IPC / CUMEM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361A25-1D62-4BB0-8D4E-D2E9883F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714750"/>
            <a:ext cx="3543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跨进程或需要 handle 时仍可 GPU-to-GPU，但经过 intermediate FIFO 和 IPC/CUMEM 管理。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07D58-A2CB-439C-9087-5D510AE2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29125"/>
            <a:ext cx="3810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B22280-823A-4951-8BBF-1F9D0273C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42912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FDCFD0-7A26-4072-9DAB-C2EEA461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543425"/>
            <a:ext cx="3543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SHM fallback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330D4-DC0B-4337-8F44-D07413DE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810125"/>
            <a:ext cx="3543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P2P 不可用或跨 socket P2P 性能差时，数据经 host shared memory 中转，多一次 GPU-host 拷贝。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788185-529E-4996-B77B-61F4E2C3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53125"/>
            <a:ext cx="100012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决策含义：节点内性能差时，先看 GPU 拓扑、P2P access、NUMA/socket，再看是否落到了 SHM fallback。</a:t>
            </a:r>
          </a:p>
        </p:txBody>
      </p:sp>
    </p:spTree>
    <p:extLst>
      <p:ext uri="{BB962C8B-B14F-4D97-AF65-F5344CB8AC3E}">
        <p14:creationId xmlns:p14="http://schemas.microsoft.com/office/powerpoint/2010/main" val="58218807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C0773E-A1DF-441D-AA75-6D55D1A9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53091-CD95-4B18-BFF4-02A1FE716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530A11-0EB2-4AE0-A965-810E00E0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INTER-NODE TRANSFER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4219BD-A7DB-4C5E-9B33-3AF80499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跨节点通信由 GPU kernel、CPU proxy、host memory 和 NIC 协同完成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F4067-A666-4866-9064-532EADE99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网络 transport 分 Socket 和 InfiniBand；IB 开启 GDRDMA 后 intermediate buffer 可以放在 GPU memory。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836E3-94FD-4554-BD40-F9045673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72FC7-14B7-4B1D-87EB-3CDF837CA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B49C3-7BA6-4671-BB1B-D5F9CD6A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5524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08d62911140c6"/>
          <a:stretch xmlns:a="http://schemas.openxmlformats.org/drawingml/2006/main"/>
        </p:blipFill>
        <p:spPr>
          <a:xfrm xmlns:a="http://schemas.openxmlformats.org/drawingml/2006/main">
            <a:off x="1476582" y="2238375"/>
            <a:ext cx="3876261" cy="3714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27BCC-322E-42DB-9FC0-E9EFEE2A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390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89C98-F138-4C06-9C7F-6F55DD62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098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B5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6EEBA-0C92-4D6A-9B9A-9E1DC703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3638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Socket transport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D153B-8128-478A-A334-407786E9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590800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没有 RDMA 时走 net_socket.cc：GPU → pinned host buffer → socket → host buffer → GPU。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68CA3E-D335-45C1-9B68-E896A50A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390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275FC-092F-40D2-8C71-0EAAA65FB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813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6A5ECE-54F2-4EA3-A684-ABBF82E6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95650"/>
            <a:ext cx="3638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IB without GDRDMA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A5A2FD-A2E6-4FAE-96A2-DB0348CE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62350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CPU proxy 使用 verbs post RDMA，但 buffer 在 host memory；仍需要 GPU/host staging。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8E9AD5-7E30-4713-930F-5A8F6AEC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52900"/>
            <a:ext cx="390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4EFD0D-B98A-481E-AAB0-A4D7453B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529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E11F9-C94C-4DB2-9AE0-ED620CD9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67200"/>
            <a:ext cx="3638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IB with GDRDMA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84604A-E67D-4DFC-9DC9-A9C7B0E0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33900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NIC 注册 GPU memory，直接对 GPU buffer 做 RDMA，减少 host staging。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903EDE-9B87-4A05-858A-EF126EC4D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24450"/>
            <a:ext cx="3905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8A5442-4CAA-4217-AE48-158152822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1244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4CC73E-2670-47BE-A14D-87C8D77F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38750"/>
            <a:ext cx="3638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Proxy thread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AEC00B-07E8-4315-81E5-2CC635A7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505450"/>
            <a:ext cx="3638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网络操作由 CPU proxy 管理；GPU kernel 与 proxy 通过 FIFO/flags 协调。</a:t>
            </a:r>
          </a:p>
        </p:txBody>
      </p:sp>
    </p:spTree>
    <p:extLst>
      <p:ext uri="{BB962C8B-B14F-4D97-AF65-F5344CB8AC3E}">
        <p14:creationId xmlns:p14="http://schemas.microsoft.com/office/powerpoint/2010/main" val="6243296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E34E98-7451-4E11-AD0D-48F1342E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433EB2-D082-4F66-8F14-F77F6A0F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70C70-D86D-46D0-85F0-E8F4E5FC2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IB TRANSPORT DETAILS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23429-A38F-4059-87A7-1B40D420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IB transport 的性能关键在 QP 布局、CTS 控制和 flush 可见性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6D2A0B-25CF-4FF9-AE0F-02F7C391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这些机制把“远端 buffer 是否可写、写完 GPU 是否可见”这两个问题拆开解决。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C13F8-5081-4632-8EE6-6131BB95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4662B-1270-47DE-8E74-1DA12FB9A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009BD-3E6D-48E7-9336-36B10733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237B2-2101-480E-BE21-CC4D8282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C1A83-714C-4867-94BC-05D054F7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Per-peer channels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2FBCC-CC47-43EB-AAB2-D931146B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114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每个 remote GPU/NIC 默认有多个 logical channel；proxy 轮转 sendComm，提高 QP chunk 和 ECMP 利用。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A24C1-1AD2-408D-98EC-8472FAF3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AA1A2A-699B-4598-98FC-4FDB74F8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669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64FD0E-18AC-4CEB-AFA8-9CB09129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812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Data QP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9CE30-39F7-4E47-A244-E39B5A60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47950"/>
            <a:ext cx="2114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bulk 数据通过 RDMA_WRITE；最后一个 packet 可用 RDMA_WRITE_WITH_IMM 触发完成通知。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B7902-202A-4066-B4AA-55ED6ED5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B7922-8F50-4F9D-860B-AC90CEBDE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C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26844-8521-4364-97B6-0AEB8B5F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CTS QP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2C6C5-EF50-498B-8AF3-A99E857E5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47950"/>
            <a:ext cx="2114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反向 clear-to-send 只传 addr、rkey、tag；避免控制消息被大数据流阻塞。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0D6567-FFE9-403A-B6F4-DF22B63D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23812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E0719D-CDB8-4892-B52E-ED330055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66950"/>
            <a:ext cx="47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B5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A7B605-8051-4495-9469-D36A2845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Flush QP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96B4FD-6DE5-465E-A3AF-F65369F3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647950"/>
            <a:ext cx="21145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GDRDMA 接收后发 dummy RDMA_READ，等待 PCIe write completion，保证 GPU memory 可见。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5A2811-3249-4206-86B1-485CDEC7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52950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33350" rIns="190500" bIns="1333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完整路径：receiver 发布可写 buffer 信息，sender 获得 rkey 后写入远端 GPU/host buffer；写入完成只代表 NIC 侧完成，flush 用来保证之前的 PCIe writes 真正到达 GPU memory。</a:t>
            </a:r>
          </a:p>
        </p:txBody>
      </p:sp>
    </p:spTree>
    <p:extLst>
      <p:ext uri="{BB962C8B-B14F-4D97-AF65-F5344CB8AC3E}">
        <p14:creationId xmlns:p14="http://schemas.microsoft.com/office/powerpoint/2010/main" val="58440327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9396B9-B8E6-4B54-B46D-D74AB890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D4FC0-2AEB-44E3-AA28-DFAD476A7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7D99E5-FF05-46AC-B5E5-9F9EEED72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ALGORITHM SUPPORT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C119B5-0D5F-4FA1-96D0-FEA8372D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Ring/Tree 是通用主干，其他算法更依赖特定硬件或只支持 Simple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FCCD4-1167-44F8-93CF-680381806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理解支持矩阵可以避免误以为所有 collective 都能随意组合 algorithm 和 protocol。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AD741F-CE97-4BDD-A025-C40EFCC42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9CAC3-28E8-4CAF-AF7E-0DFA9E42E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526B9-98D2-452F-97DF-D1C407FE5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FC343F-A618-47F9-A247-D5226330C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1323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E1114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0E1114"/>
                </a:solidFill>
                <a:latin typeface="Aptos"/>
                <a:ea typeface="Aptos"/>
                <a:cs typeface="Aptos"/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A11B35-2F5C-4D58-9FD4-D132E65A7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95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D360F-343B-4AFE-8D33-620BF8C8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717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AllReduce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29FAAA-CC6B-4772-A519-169D02D3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95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A494A1-949A-4FC8-B559-9DE39E48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1717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Broadcast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9129D-9494-4724-87F8-6B5C20CD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95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97F3F0-3CDE-459C-B875-F160CF07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1717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Reduce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048813-D998-4F19-80EC-643413AD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95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0CDDA6-42AB-4B4B-AB4F-8D24707F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717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ReduceScatter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0DFFDA-FAAE-432A-8C3B-C950793A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0955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6BB853-903F-45E1-A38A-7D8C9D9C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1717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AllGather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8F4E5-1DD2-4D9A-8564-052EF614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955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F94B0B-688B-4D90-890C-7EC5C4BA9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1323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0C30ED-25F0-4AA7-8ED9-08FADB1B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4955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E977F0-400D-47E3-B1F7-B0122258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5717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Simple / LL / LL128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E34375-2C79-44C1-860A-5D449BD2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955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0CB168-3BE2-4ED8-94E2-D20C0264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717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Simple / LL / LL128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CF0986-B28B-4B6E-A138-28D526F8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955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3C0A17-0967-48A2-A360-B063C7A1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5717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Simple / LL / LL128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8C38DF-F821-42EF-83FF-C5715054D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955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4446BF-AC0D-472A-9D22-4794385B5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717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Simple / LL / LL128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1705B3-950D-4DD8-92F1-5BE1A57D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4955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01F12F-3A53-4EAD-866A-1FB5E753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717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Simple / LL / LL128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C990738-CC95-4ADA-9129-D83ADB904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956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4AD468-63EA-4B8B-9B11-87C63114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323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Tree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BF2978-0689-4CB7-BA72-64DAC7F3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8956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830EC01-7463-4EE6-A6C1-A1419F26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9718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Simple / LL / LL128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ADB768-CF7A-486F-8336-76282698C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956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2A7BFB-AE6F-4F83-AC96-2EB21F439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718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FFE72A-472C-47EB-82BE-684BB6B9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956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0D6C28-E4DD-41FA-B6D7-46AB8CA6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9718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D85A59F-07A6-4DB0-A654-B6CEFF858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865F0B-F775-4290-942D-3EE8AB64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718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2F4B2E-FFBD-4F3A-B5A8-3BCDCD4E0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8956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5A200FF-7595-4BF8-BC2A-75A3241C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9718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47D53E7-E39C-46FA-9436-A870F878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956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DADD18-B186-4169-8C9C-E9CFEB95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1323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CollNet Direct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F1963A-18B5-49C3-9192-C07DF53C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2956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6041A9-80AC-4D72-A1A8-24B9D804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3718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96B47EC-57C7-4360-9907-04C2974A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2956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EACB7B-FDEE-470C-8265-B0DA84CE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718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513D20-4D90-4926-8B22-FDCC0064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956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5376CAA-C2F2-404B-8FF7-727E3EB2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3718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524D63B-07C2-470E-8BF0-2239E0CE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956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3408C6-7D85-4299-A9EC-F76C1608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718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713409-1E76-492B-AEA0-26FD82E56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956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A56D540-DB4C-45FB-9885-A7219B3A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3718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CECB20-2669-41A3-BDF2-022860AD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957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B4748F-C048-4C34-9FF5-E99DFD06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1323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CollNet Chain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98A77D3-2141-46B4-B94F-280A2084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6957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43E070-B3EE-43E1-9A28-8939F381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7719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DA8735F-A48B-44AB-BC79-537BF583D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957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D251034-427C-42FF-9BFB-5A38CDAC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7719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982923-55E5-423A-B664-B75B75A3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957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3F2EB9B-CAF0-472F-AAD8-15B9506FB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7719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9D5FB12-6457-45A7-98D3-780648C98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36EAD51-74C6-455E-A8E8-FE74A5C7E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7719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8E1062B-EB73-44B9-927E-7F684088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957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6DFE7CB-921A-4F31-BA6C-44E74817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7719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1A206FC-DADB-4515-B5F8-99AB228E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B29D514-949B-4CAF-968C-96B9EFBB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71950"/>
            <a:ext cx="1323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NVLS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E1D7EC5-9230-4785-B0F3-313286CC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0957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0394614-1F34-4C64-9354-DEF017CA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1719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2C86437-7060-4398-BF67-1BE79AF6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68558C4-B8A7-4ADC-AA3A-4CB8008A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1719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C7C18E-4B84-4896-8B4B-4F4BC3C4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0957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8A03C36-7299-49C5-B114-54360443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1719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A24BA92-0295-4B5D-B184-2DDA53CC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A7A680C-8ADB-4833-89E2-6DD39DE4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719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0242147-BA3B-4093-AB8C-A965B4DC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9575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DC526CA-ED96-4E2C-8881-62FED0FE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17195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8D98C9F-E49B-4F3C-8583-D6F1CD67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1476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E7BE980-8264-4090-B1C7-30432208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72000"/>
            <a:ext cx="13239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NVLS Tree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16F2C87-965D-4CEE-92D9-D92BF141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4958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3EA6027-50ED-4327-A54C-3C83EA54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5720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Simple only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F6F11DD-CC93-4781-90BF-E7FD5E6B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958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79FA8E4-5D40-4DE4-BD02-D4C32225E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5720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D11919D-78DA-4588-B734-F928308F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958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AB3FCCC-99BE-41A0-B16B-20FA2222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45720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5781886-7352-48CF-B595-63B732357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958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66CB3A3-99CD-489D-A9AA-051A6959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5720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57E7889-062B-4B12-B33A-00577B177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95800"/>
            <a:ext cx="1666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3EE2D28-44DB-4133-BA16-C542B855F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4572000"/>
            <a:ext cx="151447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1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-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6AED2E8-CB0E-4B65-8A25-9CDC358C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19750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结论：Ring 几乎覆盖所有 collective；Tree 主要服务 AllReduce；NVLS/CollNet 是硬件加速路径，不是一般集群上的默认解释模型。</a:t>
            </a:r>
          </a:p>
        </p:txBody>
      </p:sp>
    </p:spTree>
    <p:extLst>
      <p:ext uri="{BB962C8B-B14F-4D97-AF65-F5344CB8AC3E}">
        <p14:creationId xmlns:p14="http://schemas.microsoft.com/office/powerpoint/2010/main" val="94159782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6D3CBE-7359-4DB4-BCA7-DA25659A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73B2F-68DD-4D9B-B129-19EE2EB8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B02896-7421-45C1-AE7D-7B91A116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DEVICE PRIMITIVES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D9DC2-24B1-4C7B-B1A4-F86418EA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collective kernel 由少数 primitive 拼装，名字直接编码了操作顺序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CB733-6F33-4696-AC43-8317615F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algorithm 决定 primitive 序列；protocol 决定每个 primitive 里面如何同步和访问 buffer。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06288-C792-4123-98BD-1A14E3D6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A3D18-91AC-44BF-B057-E77C9AF1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AFDA69-5430-465E-95BB-AD0BE568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A284D-8E22-4590-B858-A80FD199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E111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E1114"/>
                </a:solidFill>
                <a:latin typeface="Aptos"/>
                <a:ea typeface="Aptos"/>
                <a:cs typeface="Aptos"/>
              </a:rPr>
              <a:t>Primitive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D8CE2-1FC2-41F4-BB7B-2B8A8129A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7334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1525D7-C074-42EA-9DAB-BBAD5C94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71700"/>
            <a:ext cx="718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88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Semantics in one loop step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148B3B-485E-41F9-B332-254A9A9C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5C47E-2278-4F37-98A2-998BCDD3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479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DE9B9-5BD4-4027-A00C-A5918F3B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71750"/>
            <a:ext cx="7334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6F4862-4D7B-4DFA-B777-AB997538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718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把当前 chunk 发给下一个 peer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AAD8A-1EF9-41D7-9330-CD7C3B82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33C731-4D9F-4277-8AE1-BBD09830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242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recv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EE336-8281-4A3E-AE35-A01075C2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048000"/>
            <a:ext cx="7334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62A2D-1D1A-4908-A9C8-92A3BECC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24200"/>
            <a:ext cx="718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从前一个 peer 接收 chunk，通常用于最后一步完成本地结果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2F037-024A-43A0-8812-49AC58E0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7987A2-A4C4-467C-ADE6-9CE3EAAA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recvReduceSend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0C93FA-6E30-44B8-A72A-72F797FF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24250"/>
            <a:ext cx="7334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9C206D-405B-4B50-B205-618E78956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00450"/>
            <a:ext cx="718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接收 partial chunk，与本地 input 做 element-wise reduction，再继续发出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B3563A-17CE-4B1B-A27B-FD342663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5078DC-6669-4CDB-B864-1783B71A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7670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recvCopySend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BAE013-3E25-4BE7-8C71-E1205CBB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00500"/>
            <a:ext cx="7334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10BB5A-D5A3-49EA-AB6D-F5B83BEF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076700"/>
            <a:ext cx="718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接收已经完成的 chunk，copy 到输出位置，并继续转发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E6644E-BE15-4D1C-8354-F9125C29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238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9C6BB1-27F8-4068-BA4F-06A5EC5E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2228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recvReduceCopySend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5BCD5F-85CF-4CBE-B73F-01EDEB85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76750"/>
            <a:ext cx="7334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CFFCC1-F279-40D3-8EAD-97DB1E29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52950"/>
            <a:ext cx="7181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88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接收、规约、copy 到输出，并继续 send；常出现在 final reduce 或 tree root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F39857-83B6-494D-BD1E-B51F593E3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实现视角：NCCL 并不是调用一个“网络 allreduce 原语”，而是在 GPU 上反复执行这些 primitive，同时 transport 在背后完成跨 peer 数据可见性。</a:t>
            </a:r>
          </a:p>
        </p:txBody>
      </p:sp>
    </p:spTree>
    <p:extLst>
      <p:ext uri="{BB962C8B-B14F-4D97-AF65-F5344CB8AC3E}">
        <p14:creationId xmlns:p14="http://schemas.microsoft.com/office/powerpoint/2010/main" val="4299857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3B72BA-B971-4C7C-8870-D84CC594B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9CE07-B504-4B82-A9E0-678106A5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AC6A32-1C09-4E5A-9368-EE313E5A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KERNEL SCHEDULING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5A1791-D99D-4F38-8209-443E5C53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channel 到 CUDA block，block 内 warp 分工，这是 NCCL 并行执行的基本形态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A4602D-A6BD-4D35-B155-0C527BAF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论文把 host-side plan 与 device-side work 连接起来：channelMask、blockIdx、warp roles 决定实际执行者。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4CD55-D0B4-48FC-A849-D1BA5BF1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B39588-8E27-4F0B-8820-F2445CD9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A6AAA-A15D-4D52-99C6-3F1A52C9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A527C3-4A97-41E9-B8B1-CD5DFA796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1051D1-C464-4A72-825D-48FEA30E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526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Channel mask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42738-6391-4982-B6A6-205F37DC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19375"/>
            <a:ext cx="2114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kernel 收到 channelMask；device code 用 popcount 找到 blockIdx.x 对应的 active channel。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6577B-6D70-4B7F-9AD3-8892D7B8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3837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999A6-6BD3-46F8-956E-E22D8699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3837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D57A06-EC5A-4E85-972D-98EF5AEA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526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Block per channel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1D5B21-6EC3-4C2F-B091-BE529AFE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619375"/>
            <a:ext cx="2114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每条 active channel 通常由一个 CUDA block 执行；线程数由 autotuning 写入 plan-&gt;threadPerBlock。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DE9E1-97C7-4737-8569-3883AC2D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3837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77CE78-D2C4-487B-81BE-7FFA4044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3837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95069F-79E3-4FA3-8FCB-AF38E485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526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Warp roles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BE2910-4ECB-441B-8F5B-64DBF11C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19375"/>
            <a:ext cx="2114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warp 0 加载 ncclDevComm；warp 1 加载 channel metadata；剩余 warps 执行通信/规约。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87A7E5-9DB4-4AC0-BF8F-5168CE6B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96DD1F8-FB5E-4D7E-86A6-5ECAE159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238375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7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CCDCFA-5240-4800-A5D9-7714DD5D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35267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Work descriptor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9EB09-56AF-477B-94CE-60F01D43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19375"/>
            <a:ext cx="21145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nWarps 等字段控制实际工作 warp 数；不同算法会不同地分配工作。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A1D6BD-407D-48E0-9E11-1E1F3C49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48200"/>
            <a:ext cx="914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33350" rIns="190500" bIns="1333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这解释了为什么 NCCL 调优不只是“换网络”：channel 数、block 数、warp 数、protocol buffer、transport FIFO 都会共同改变 GPU kernel 内部并行度与等待时间。</a:t>
            </a:r>
          </a:p>
        </p:txBody>
      </p:sp>
    </p:spTree>
    <p:extLst>
      <p:ext uri="{BB962C8B-B14F-4D97-AF65-F5344CB8AC3E}">
        <p14:creationId xmlns:p14="http://schemas.microsoft.com/office/powerpoint/2010/main" val="982619391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039B55-2A5F-4B46-9A28-DA077960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18BEF-DA13-4230-A77A-B84EB7D8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B8D83-826F-4ED4-9D06-2D904C837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RING ALLREDUCE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7D24B6-26B2-456A-BA7D-D6560EE7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Ring AllReduce = ReduceScatter 半程 + AllGather 半程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5E53E-A67B-4856-8F7D-35D8F01ED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每个 rank 只和左右邻居通信；大消息下链路利用率高，但总 step 数随 rank 数线性增长。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D92714-8BA4-4623-8EC4-68F8D4D1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0B8DBA-CA64-4FC2-B34B-FFB3DEC0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873330-47CA-45A0-8851-D5D60DD5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981200"/>
            <a:ext cx="9067800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4f8d8c6b114cda"/>
          <a:stretch xmlns:a="http://schemas.openxmlformats.org/drawingml/2006/main"/>
        </p:blipFill>
        <p:spPr>
          <a:xfrm xmlns:a="http://schemas.openxmlformats.org/drawingml/2006/main">
            <a:off x="1696069" y="2057400"/>
            <a:ext cx="8790336" cy="33337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658CFF-DBE6-4989-959A-8312D393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3D7BA5-238B-4790-AF91-4172B329B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72125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38A611-E5A2-4684-9D93-DE293454B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686425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ReduceScatter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363376-CDF5-4FD0-8EC3-733637F1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953125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Step 0 send；中间 k-2 步 recvReduceSend；最后 recvReduceCopySend。每个 segment 在环上逐步累加。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A3410F-245F-47A0-BEB9-693FC548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7212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A215F1-6211-4AAC-87B9-E05450FD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572125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E80657-E36C-4341-91C2-EB6B15BD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686425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AllGather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F91C4-2833-4856-8BF6-56BD94A8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953125"/>
            <a:ext cx="2876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fully reduced segment 继续沿 ring 流动；中间 recvCopySend，最后 recv。所有 rank 获得完整结果。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F88A7F-0506-4F90-80B6-1D852B02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72125"/>
            <a:ext cx="2762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693DD4-F924-48FB-BE34-38D7E25C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72125"/>
            <a:ext cx="47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57786E-C6EE-402F-87D7-2C738DA3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686425"/>
            <a:ext cx="2495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Cost shape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D39270-EBA6-47D6-A8C5-596DC13C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953125"/>
            <a:ext cx="24955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约 2(k-1) 个通信 step；适合大 tensor，单步带宽利用好。</a:t>
            </a:r>
          </a:p>
        </p:txBody>
      </p:sp>
    </p:spTree>
    <p:extLst>
      <p:ext uri="{BB962C8B-B14F-4D97-AF65-F5344CB8AC3E}">
        <p14:creationId xmlns:p14="http://schemas.microsoft.com/office/powerpoint/2010/main" val="41336915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5C8846-6EA7-4D08-8D69-6726A174F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45E7A8-C923-4D8D-B8DB-30161FB6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E4600-67D6-4B2C-90EC-66668E4F1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RING VARIANTS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29971-125E-46DD-9CB3-D305F077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AllGather 与 ReduceScatter 是 Ring AllReduce 的两个可复用半边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C3F13-D72A-4875-91FC-74AD7E66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现代并行训练常直接调用这两个 collective，例如 ZeRO/FSDP 的梯度分片与参数聚合。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4DBE1C-7AF2-41C4-98FA-E6D80D60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549517-EC17-4741-8770-E085524EA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9A6C7-CCD9-4F69-8BD0-89A11FA4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44AD9-D197-4EBA-B0D7-303A85EB0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FD15A5-C7F6-4DAE-AE76-AC8315B7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52675"/>
            <a:ext cx="421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Ring ReduceScatter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6B16AC-965A-4BEB-AF82-6D5C0ECE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19375"/>
            <a:ext cx="4210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目标：把所有 rank 的对应 segment 先规约，再把不同 fully reduced segment 分散给各 rank。</a:t>
            </a:r>
          </a:p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Primitive 序列：send → recvReduceSend × (k-2) → recvReduceCopy。</a:t>
            </a:r>
          </a:p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结果：每个 rank 只保留自己负责的 reduced segment。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D4ACD7-101E-4CB8-A31D-5706D572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4767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D48AC-3230-427D-9D49-073FE86D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1AB52-9AB2-455E-857A-BECE1D8A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52675"/>
            <a:ext cx="4210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Ring AllGather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AE848-FE47-4AC0-94CC-88D11E6E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19375"/>
            <a:ext cx="42100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目标：每个 rank 从所有 rank 收集 segment，得到完整 ordered copy。</a:t>
            </a:r>
          </a:p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Primitive 序列：send/copySend → recvCopySend × (k-2) → recv。</a:t>
            </a:r>
          </a:p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结果：每个 rank 拥有完整 tensor。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DFA17-461A-4CCE-9A1A-3AD5A543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971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33350" rIns="190500" bIns="13335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实现粒度：segment 还会被进一步切成 channel / loop / chunk / slot，因此上面的 step 不是一次搬完整 tensor，而是一组 pipeline 化的 chunk 操作。</a:t>
            </a:r>
          </a:p>
        </p:txBody>
      </p:sp>
    </p:spTree>
    <p:extLst>
      <p:ext uri="{BB962C8B-B14F-4D97-AF65-F5344CB8AC3E}">
        <p14:creationId xmlns:p14="http://schemas.microsoft.com/office/powerpoint/2010/main" val="1220404948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557EF31-147A-4DF0-B5E0-4735C4FB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5BC3B-9CD4-4854-BD60-231862A2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61847D-657C-41D9-86E5-E60C969D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TREE ALLREDUCE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9A80F-569D-467E-8E64-F7106AA6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Tree AllReduce 用上行规约和下行广播缩短依赖深度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83B57F-A19B-464E-911C-BCD31A37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树根负责聚合最终 sum；中间节点既向上贡献 partial sum，也向下转发最终结果。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469CE4-DD4A-426F-A4C0-DA0449AF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18873B-4253-4A8E-B415-D33E17AE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8ED846-2209-4969-A534-E7F98BC9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00250"/>
            <a:ext cx="95631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4bf192bd64d3c"/>
          <a:stretch xmlns:a="http://schemas.openxmlformats.org/drawingml/2006/main"/>
        </p:blipFill>
        <p:spPr>
          <a:xfrm xmlns:a="http://schemas.openxmlformats.org/drawingml/2006/main">
            <a:off x="1443234" y="2133600"/>
            <a:ext cx="9296007" cy="30670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45AF4-5308-4425-9D47-E424DA5C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EB17C2-65F2-48EE-B12D-F71609673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68467D-061C-45AE-B442-A5C91632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467350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Reduce phase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DC417-3291-4C4B-AEAA-69A827EB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7340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叶子先 send；中间节点 recvReduceSend，把子树 partial sum 向 root 推进。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17240B-5525-484E-AAB5-BBB82640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530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F55D8D-B547-4408-ADA2-CFA944B7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530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172261-A208-4439-8C0F-914E199A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467350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Broadcast phase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CF11A-E9C3-42AF-9B13-143F190C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7340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root 拥有 sum 后向下发；中间节点 recvCopySend；叶子 recv 得到最终 sum。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FB6F8-4FFE-4EF3-B86C-286B482C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53050"/>
            <a:ext cx="2857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A04EC-461B-4201-9135-021E8D67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3530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27AD58-F09B-4226-8FD6-57E9228B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467350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Implementation nuance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F6FDA-585F-45D9-9B2F-50C555E3A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734050"/>
            <a:ext cx="2590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跨节点构建 branching tree；节点内本地 GPU 通常串成 chain。</a:t>
            </a:r>
          </a:p>
        </p:txBody>
      </p:sp>
    </p:spTree>
    <p:extLst>
      <p:ext uri="{BB962C8B-B14F-4D97-AF65-F5344CB8AC3E}">
        <p14:creationId xmlns:p14="http://schemas.microsoft.com/office/powerpoint/2010/main" val="53189214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C7C1B23-FCB4-4C4F-97A9-F4A16608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9FFAA-2EFA-4136-94AD-BA3ACF9A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D6C0F3-1EF2-4E5A-89AA-D34B3E52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RING VS TREE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AA4F2-1D02-44C0-80B4-DA64A71C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选择 Ring 还是 Tree，本质是在带宽利用和依赖深度之间权衡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D36AEA-21F8-4298-8702-B024426E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NCCL autotuning 会结合 message size、rank 数、topology 和 protocol 做选择。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63D8E2-8A8B-47E1-B428-AFA4D494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F7A5D4-B88F-411E-B629-1FA66F3CE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A5DFC9-C434-4F7E-A74B-B6C490C6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907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F6A73C-6A73-4246-B9D0-A85B602F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669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E1114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0E1114"/>
                </a:solidFill>
                <a:latin typeface="Aptos"/>
                <a:ea typeface="Aptos"/>
                <a:cs typeface="Aptos"/>
              </a:rPr>
              <a:t>Dimension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37D143-FB20-442B-8ADA-0F5378C9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907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0EEA2-4424-4D86-B2E5-01F536BC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Ring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31AE99-34A8-47AF-BEE5-7F47D26C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C6822F-FDA8-4CB3-A7E0-D16FA9B6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669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Tree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BF21FF-C31B-452B-9DB5-B463F5AC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9525">
            <a:solidFill>
              <a:srgbClr val="F4EF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8C94B-1765-490E-B5F5-62F52E57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773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Practical read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078930-537F-4F09-8F14-B5E34EDA9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8B70BC-FAED-400F-981D-356BAB1E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003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Communication pattern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27957-9399-440A-9EE8-17324D588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4CDBA0-022F-4C22-BA24-5DAC2CDB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003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neighbor pipeline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A5AE46-3332-47F8-A356-2ABDF2703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5E7608-26B8-485A-8DCB-6A633EB0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parent / children fan-in/out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081CED-9D63-4E61-84DD-1BAC21E21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65554D-D7AB-4FDF-B405-9F7E2DAF4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003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Ring 链路更满；Tree 路径更短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2CBE70-D05E-4CF1-A672-B63ECF0A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D372DC-C498-477F-B4AC-ABD91758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337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Step count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3CFE6F-6458-49AD-AEDF-9219B4A9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2575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1A916D-B94F-481B-A493-2023A051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337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~2(k-1)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7E5C0E-6C16-4506-AC09-C4638AB0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575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773647-5008-40DF-92C9-A4847C0F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337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~2 log(k) 或树深相关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715BEC-D5D3-42F5-83C7-88858C3C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2575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363FE8-8DFF-4BD5-B3A5-948FD79F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337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小消息更怕 step 延迟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254A75-6AFA-4064-9266-4646E7839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39D51B-71A5-43E4-94FE-11957812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671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Bandwidth shape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FE7F09-302E-4DB7-AB28-D5774C97C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909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132865-9281-49E1-8FFF-52302D3C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8671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大消息友好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20D9CE-E3B8-4FEF-8D33-D951FC21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7909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0D44C0-511F-4343-B4FE-93F986B3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8671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小消息/低延迟友好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5C6562-C3BC-4D15-9F03-A97141FA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909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F42006-9C6B-4EA5-9487-9F09F48C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671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大 tensor 常偏 Ring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0FC0075-8098-46A0-81CC-292AF5D4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03497D-683E-4B94-B13C-358C2DF8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00550"/>
            <a:ext cx="1847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773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Bottleneck risk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AE66F3-D7AD-43D6-A6ED-AC9B8F3C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3243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3F69F0-BB16-433F-AC63-76DB7004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005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环上每步均匀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DF3D03-3C68-420D-B7A6-52ECF823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243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4FF00E-27F9-4ACB-8DD0-0BBDBFB99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005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root / middle 可能成为热点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4EAD6E8-5936-4A9A-AB20-6B2C6D25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24350"/>
            <a:ext cx="2857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868A0BB-2797-4C34-B985-07F27D2E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400550"/>
            <a:ext cx="2705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77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double binary tree 缓解热点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B8ECF56-D4F6-42AE-8AA8-E52E17C8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904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经验读法：小消息先看 Tree + LL/LL128；大消息先看 Ring + Simple；如果跨节点启用 IB/GDRDMA，transport 可见性和 NIC 拓扑会显著影响结果。</a:t>
            </a:r>
          </a:p>
        </p:txBody>
      </p:sp>
    </p:spTree>
    <p:extLst>
      <p:ext uri="{BB962C8B-B14F-4D97-AF65-F5344CB8AC3E}">
        <p14:creationId xmlns:p14="http://schemas.microsoft.com/office/powerpoint/2010/main" val="69394355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DC0E70-C11B-4E25-949D-2D09D9C6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8961B-8EFB-4B02-9CC4-396D8105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A6E210-F4C5-4CC7-91C8-C2CE4339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BENCHMARK 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92001-F72F-4FD6-B15F-86D951DC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benchmark 展示了 protocol、algorithm 和拓扑之间的交互，而不是单一赢家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841B9-E695-4322-852E-2447DD56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每个点来自多次运行；节点内方差很低，跨节点更受网络与协议开销影响。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3E0D19-E2F6-402F-8F78-023E123A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75532-19C4-4786-9324-17133D1A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C9B26-253F-4289-8578-7C4052DD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000250"/>
            <a:ext cx="90487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2f011fbca41a2"/>
          <a:stretch xmlns:a="http://schemas.openxmlformats.org/drawingml/2006/main"/>
        </p:blipFill>
        <p:spPr>
          <a:xfrm xmlns:a="http://schemas.openxmlformats.org/drawingml/2006/main">
            <a:off x="1685925" y="2133663"/>
            <a:ext cx="8820150" cy="3476498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2DA447-D385-477A-8A61-15A31A54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A2210-4958-492D-B733-D8E74043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769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Inter-node small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293B59-F544-4D81-B86B-F24B7A95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8959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LL/LL128 固定延迟低，小消息常占优。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AE780-318E-4885-B402-489A49DDA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73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527BDC-7108-4C15-913E-F5B4C87D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6769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Inter-node large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7CCB4F-FAAE-4D05-B56D-31DDCE71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8959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Simple 同步次数少，payload 效率高。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C7267B-DAF9-40FD-A31E-53041C07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73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C7ABA7-34A4-42C7-88BA-2E09FC68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769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Intra-node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4B05AB-199E-4ECA-A118-63118969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8959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NVLink/P2P 下 LL128 更容易发挥。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52AAD1-1D13-4A6A-BCA2-1B44EE34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73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7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CEE7C5-F6C0-43A4-AE7C-AD9C82B3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76900"/>
            <a:ext cx="2095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Algorithm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5382F3-7A38-407E-891A-77401944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8959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Ring 偏大消息，Tree 偏小消息。</a:t>
            </a:r>
          </a:p>
        </p:txBody>
      </p:sp>
    </p:spTree>
    <p:extLst>
      <p:ext uri="{BB962C8B-B14F-4D97-AF65-F5344CB8AC3E}">
        <p14:creationId xmlns:p14="http://schemas.microsoft.com/office/powerpoint/2010/main" val="123433574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7710BD-DDED-411F-A50F-B2F9BF4EA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39113D-8ECB-43EF-8639-34CC3DA7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1C6A2-6F74-4F99-95E9-29A82210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ATLAHS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83685-AE96-40C1-991E-96B7DC34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把 NCCL 黑盒拆成 schedule 后，才能模拟和解释训练通信瓶颈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DB8FF-856D-4362-9C8B-62FCA4BD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论文的分析被用于 ATLAHS：从 collective 调用生成细粒度 GOAL schedule。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2A3C67-AA90-4DFB-878D-2CA064A7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6263C-5244-4A01-B6FF-88713B0F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9F445-EC6E-4B10-A74D-B5570F8E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2047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3951F4-831F-4CAA-87C9-81DD0A90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5F10E-D0CA-4A4E-A066-24084D77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95550"/>
            <a:ext cx="1781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Input trace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B8FDFF-FAEA-4B71-AD9E-A1728ED6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17811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collective type、rank、message size、topology、protocol/algorithm 选择。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857A3-C4C0-4817-8B7C-30CD89C05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81250"/>
            <a:ext cx="2047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02710-3325-46D1-A9D9-CC074B80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3812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7D4D9-130C-4DDA-BFC4-C43F6510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95550"/>
            <a:ext cx="1781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Decompose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389595-4B56-4865-80E6-5DD0B31C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762250"/>
            <a:ext cx="17811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按 channel、loop、chunk、slot 和 primitive sequence 拆分。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8E31A-939B-4560-B2C9-152742DA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2047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CB30F-A4F6-4011-BEEF-AACE7BF0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487EAF-9DAF-401D-8191-26C40DCE3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95550"/>
            <a:ext cx="1781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Schedule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FE2A1D-A523-4CC3-904F-EA915626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62250"/>
            <a:ext cx="17811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生成 send / recv / reduce / copy 事件，并保留依赖与 overlap。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293B2B-385B-4A0E-B303-B1A33235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0478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7BFD9D-9E0D-4EF7-84E2-EDA61958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4762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B5E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E5CA02-F51A-42F8-86D8-44CE466D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495550"/>
            <a:ext cx="1781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Simulate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593FD8-8012-4550-823B-8FAB8881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762250"/>
            <a:ext cx="178117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预测运行时间，定位是否由 protocol、transport、channel 或算法依赖造成。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AE03A5-2631-4C63-A0A4-744FD7C37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813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3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451E12-4F87-460F-BB88-7B6B3C1D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813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976068-4D69-40EC-9D8D-04C9F58D5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9813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0394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7974CE-D4A4-4A4E-97FF-B0B704003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0125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FE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90500" tIns="133350" rIns="190500" bIns="13335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111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0E1114"/>
                </a:solidFill>
                <a:latin typeface="PingFang SC"/>
                <a:ea typeface="PingFang SC"/>
                <a:cs typeface="PingFang SC"/>
              </a:rPr>
              <a:t>为什么这些实现细节重要：如果只把 AllReduce 当成一个粗粒度耗时函数，就无法解释不同 message size、不同 topology、不同 protocol 下的性能反转。</a:t>
            </a:r>
          </a:p>
        </p:txBody>
      </p:sp>
    </p:spTree>
    <p:extLst>
      <p:ext uri="{BB962C8B-B14F-4D97-AF65-F5344CB8AC3E}">
        <p14:creationId xmlns:p14="http://schemas.microsoft.com/office/powerpoint/2010/main" val="138459785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EA6DBC-0A19-406D-BBBE-704DB628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114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537A8-B7B5-4BBB-92BF-557571412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93028-812F-431B-9EDB-7AB2F1E0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DB4A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DB4A3"/>
                </a:solidFill>
                <a:latin typeface="Aptos"/>
                <a:ea typeface="Aptos"/>
                <a:cs typeface="Aptos"/>
              </a:rPr>
              <a:t>PRACTICAL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B8AA7E-E900-471C-9E12-01EB0566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028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排查 NCCL 性能时，按层级缩小问题范围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CD8DA3-BD33-40AF-93F1-54D32D68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38275"/>
            <a:ext cx="9810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这页把前面机制转成实际排障顺序。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74BE2-A436-4032-8D0E-6CB518A4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837B6E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837B6E"/>
                </a:solidFill>
                <a:latin typeface="Aptos"/>
                <a:ea typeface="Aptos"/>
                <a:cs typeface="Aptos"/>
              </a:rPr>
              <a:t>Source: Hu et al., Demystifying NCCL, arXiv 2507.04786. Embedded figures are used as technical illustrations.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6C1B5-57E9-4117-B0A7-76D93D1C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837B6E"/>
                </a:solidFill>
                <a:latin typeface="Aptos Mono"/>
                <a:ea typeface="Aptos Mono"/>
                <a:cs typeface="Aptos Mono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93028-E116-462C-86DC-BAE724B3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000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457580-8FF8-452D-BE7B-ED9BCEE4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03E40-D08D-418F-8481-57BF6C52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2733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1. Workload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4C3755-74EB-42E3-A0C0-473A4F94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76500"/>
            <a:ext cx="2733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collective 类型、message size、rank 数、是否分片训练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A3526B-1B20-423D-9B85-8AFC8A45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3000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730DB6-8E37-4D26-B71E-9F852EE1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95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B64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93BDA6-ED64-46CC-9EFE-DDA72AB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09800"/>
            <a:ext cx="2733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2. Algorithm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6F01B7-3FD6-423A-9780-7074C931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76500"/>
            <a:ext cx="2733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实际选择 Ring / Tree / NVLS / CollNet；小消息和大消息预期不同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A8D118-8B43-41F3-BE03-5EB7548F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000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B86C5-E3B0-4EA6-866A-F538732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76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83C45C-346A-4C3A-AB2E-4CD50839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09800"/>
            <a:ext cx="2733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3. Protocol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47A3EF-B0D4-47EB-83BF-A3392F686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733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Simple / LL / LL128；看 slot、flag 成本、硬件支持与 NCCL_PROTO 覆盖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EA9F5-472D-445C-971C-280721DC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3000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0EFD6D-2E10-48D0-AFD4-01ACCE7F2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A7FF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D8896A-62C1-483A-84D0-6D5BCF69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29050"/>
            <a:ext cx="2733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4. Transport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F52F2F-F5EE-41E2-95A5-CCDF1D1B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733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节点内是否 P2P_DIRECT/P2P/SHM；跨节点是否 Socket/IB/GDRDMA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DEB299-62F3-437A-A9BF-40AF5175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3000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21838D-9021-49AA-8FE7-307BF99A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B5E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D82E4E-86E1-4EFC-A8C7-C053ECB4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829050"/>
            <a:ext cx="2733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5. Topology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1D07ED-2546-4869-B084-09151A97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95750"/>
            <a:ext cx="2733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NVLink/PCIe switch/socket/NIC affinity；跨 socket fallback 往往很贵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07DC6C-45E6-4903-919E-04903063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3000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E25"/>
          </a:solidFill>
          <a:ln xmlns:a="http://schemas.openxmlformats.org/drawingml/2006/main" w="9525">
            <a:solidFill>
              <a:srgbClr val="30394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2A4A48-5E3B-4292-A377-2A1F53C0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147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C6D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AC5A09-9771-4773-B4FE-9AA3D4F5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29050"/>
            <a:ext cx="27336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EFE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4EFE6"/>
                </a:solidFill>
                <a:latin typeface="Aptos"/>
                <a:ea typeface="Aptos"/>
                <a:cs typeface="Aptos"/>
              </a:rPr>
              <a:t>6. Pipeline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8779DD-5C3A-4DEE-95B3-74FAC6B4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95750"/>
            <a:ext cx="27336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BDB4A3"/>
                </a:solidFill>
                <a:latin typeface="PingFang SC"/>
                <a:ea typeface="PingFang SC"/>
                <a:cs typeface="PingFang SC"/>
              </a:rPr>
              <a:t>channel 数、chunk/slot 大小、GPU kernel occupancy、proxy 是否饱和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3EE62B-79FB-4CDC-9544-592DE4F40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10001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4EFE6"/>
                </a:solidFill>
                <a:latin typeface="PingFang SC"/>
                <a:ea typeface="PingFang SC"/>
                <a:cs typeface="PingFang SC"/>
              </a:rPr>
              <a:t>最重要的心智模型：NCCL 性能不是单点属性，而是 algorithm × protocol × transport × topology × pipeline 的组合结果。</a:t>
            </a:r>
          </a:p>
        </p:txBody>
      </p:sp>
    </p:spTree>
    <p:extLst>
      <p:ext uri="{BB962C8B-B14F-4D97-AF65-F5344CB8AC3E}">
        <p14:creationId xmlns:p14="http://schemas.microsoft.com/office/powerpoint/2010/main" val="1794907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2026-05-12T09:11:07.1120000Z</dcterms:created>
  <dcterms:modified xsi:type="dcterms:W3CDTF">2026-05-12T09:11:07.1120000Z</dcterms:modified>
</coreProperties>
</file>
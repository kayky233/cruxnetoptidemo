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5f8c5835af4c9b" /><Relationship Type="http://schemas.openxmlformats.org/officeDocument/2006/relationships/extended-properties" Target="/docProps/app.xml" Id="R086ae7be8c1348ae" /><Relationship Type="http://schemas.openxmlformats.org/officeDocument/2006/relationships/officeDocument" Target="/ppt/presentation.xml" Id="Rcac5d2779cb84f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8286d8bfd2427f"/>
  </p:sldMasterIdLst>
  <p:notesMasterIdLst>
    <p:notesMasterId xmlns:r="http://schemas.openxmlformats.org/officeDocument/2006/relationships" r:id="Rb87d6687fa8f41c6"/>
  </p:notesMasterIdLst>
  <p:sldIdLst>
    <p:sldId xmlns:r="http://schemas.openxmlformats.org/officeDocument/2006/relationships" id="256" r:id="R48e0862f5ed7491f"/>
    <p:sldId xmlns:r="http://schemas.openxmlformats.org/officeDocument/2006/relationships" id="257" r:id="Rb28747e38db44d4c"/>
    <p:sldId xmlns:r="http://schemas.openxmlformats.org/officeDocument/2006/relationships" id="258" r:id="R6b1b416caf5d4485"/>
    <p:sldId xmlns:r="http://schemas.openxmlformats.org/officeDocument/2006/relationships" id="259" r:id="R4116e0fdb6d74eb2"/>
    <p:sldId xmlns:r="http://schemas.openxmlformats.org/officeDocument/2006/relationships" id="260" r:id="Rf78652aaa603428c"/>
    <p:sldId xmlns:r="http://schemas.openxmlformats.org/officeDocument/2006/relationships" id="261" r:id="R48a3727d8c934e6d"/>
    <p:sldId xmlns:r="http://schemas.openxmlformats.org/officeDocument/2006/relationships" id="262" r:id="R34b317adf1f842e0"/>
    <p:sldId xmlns:r="http://schemas.openxmlformats.org/officeDocument/2006/relationships" id="263" r:id="Rafc058c0aedf41b6"/>
    <p:sldId xmlns:r="http://schemas.openxmlformats.org/officeDocument/2006/relationships" id="264" r:id="R7b97a6417d804e42"/>
    <p:sldId xmlns:r="http://schemas.openxmlformats.org/officeDocument/2006/relationships" id="265" r:id="Ra038fea4d6f64cac"/>
    <p:sldId xmlns:r="http://schemas.openxmlformats.org/officeDocument/2006/relationships" id="266" r:id="Rf2a9cc3d29fc4e56"/>
    <p:sldId xmlns:r="http://schemas.openxmlformats.org/officeDocument/2006/relationships" id="267" r:id="R860160cbfd98460e"/>
    <p:sldId xmlns:r="http://schemas.openxmlformats.org/officeDocument/2006/relationships" id="268" r:id="Rb99aca3c2b694eba"/>
    <p:sldId xmlns:r="http://schemas.openxmlformats.org/officeDocument/2006/relationships" id="269" r:id="R400f05aae2544a9c"/>
    <p:sldId xmlns:r="http://schemas.openxmlformats.org/officeDocument/2006/relationships" id="270" r:id="R6efbf4c867f64d7d"/>
    <p:sldId xmlns:r="http://schemas.openxmlformats.org/officeDocument/2006/relationships" id="271" r:id="R8efaf6c55b8f461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8286d8bfd2427f" /><Relationship Type="http://schemas.openxmlformats.org/officeDocument/2006/relationships/theme" Target="/ppt/theme/theme1.xml" Id="Rd131c45cde45454a" /><Relationship Type="http://schemas.openxmlformats.org/officeDocument/2006/relationships/notesMaster" Target="/ppt/notesMasters/notesMaster1.xml" Id="Rb87d6687fa8f41c6" /><Relationship Type="http://schemas.openxmlformats.org/officeDocument/2006/relationships/presProps" Target="/ppt/presProps.xml" Id="R6bdf4184cb32460f" /><Relationship Type="http://schemas.openxmlformats.org/officeDocument/2006/relationships/viewProps" Target="/ppt/viewProps.xml" Id="R9cfe06158f104a0d" /><Relationship Type="http://schemas.openxmlformats.org/officeDocument/2006/relationships/tableStyles" Target="/ppt/tableStyles.xml" Id="R3f05a58f130f437e" /><Relationship Type="http://schemas.openxmlformats.org/officeDocument/2006/relationships/slide" Target="/ppt/slides/slide1.xml" Id="R48e0862f5ed7491f" /><Relationship Type="http://schemas.openxmlformats.org/officeDocument/2006/relationships/slide" Target="/ppt/slides/slide2.xml" Id="Rb28747e38db44d4c" /><Relationship Type="http://schemas.openxmlformats.org/officeDocument/2006/relationships/slide" Target="/ppt/slides/slide3.xml" Id="R6b1b416caf5d4485" /><Relationship Type="http://schemas.openxmlformats.org/officeDocument/2006/relationships/slide" Target="/ppt/slides/slide4.xml" Id="R4116e0fdb6d74eb2" /><Relationship Type="http://schemas.openxmlformats.org/officeDocument/2006/relationships/slide" Target="/ppt/slides/slide5.xml" Id="Rf78652aaa603428c" /><Relationship Type="http://schemas.openxmlformats.org/officeDocument/2006/relationships/slide" Target="/ppt/slides/slide6.xml" Id="R48a3727d8c934e6d" /><Relationship Type="http://schemas.openxmlformats.org/officeDocument/2006/relationships/slide" Target="/ppt/slides/slide7.xml" Id="R34b317adf1f842e0" /><Relationship Type="http://schemas.openxmlformats.org/officeDocument/2006/relationships/slide" Target="/ppt/slides/slide8.xml" Id="Rafc058c0aedf41b6" /><Relationship Type="http://schemas.openxmlformats.org/officeDocument/2006/relationships/slide" Target="/ppt/slides/slide9.xml" Id="R7b97a6417d804e42" /><Relationship Type="http://schemas.openxmlformats.org/officeDocument/2006/relationships/slide" Target="/ppt/slides/slide10.xml" Id="Ra038fea4d6f64cac" /><Relationship Type="http://schemas.openxmlformats.org/officeDocument/2006/relationships/slide" Target="/ppt/slides/slide11.xml" Id="Rf2a9cc3d29fc4e56" /><Relationship Type="http://schemas.openxmlformats.org/officeDocument/2006/relationships/slide" Target="/ppt/slides/slide12.xml" Id="R860160cbfd98460e" /><Relationship Type="http://schemas.openxmlformats.org/officeDocument/2006/relationships/slide" Target="/ppt/slides/slide13.xml" Id="Rb99aca3c2b694eba" /><Relationship Type="http://schemas.openxmlformats.org/officeDocument/2006/relationships/slide" Target="/ppt/slides/slide14.xml" Id="R400f05aae2544a9c" /><Relationship Type="http://schemas.openxmlformats.org/officeDocument/2006/relationships/slide" Target="/ppt/slides/slide15.xml" Id="R6efbf4c867f64d7d" /><Relationship Type="http://schemas.openxmlformats.org/officeDocument/2006/relationships/slide" Target="/ppt/slides/slide16.xml" Id="R8efaf6c55b8f46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c9c2e21803843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b1cd01b51e407b" /><Relationship Type="http://schemas.openxmlformats.org/officeDocument/2006/relationships/notesMaster" Target="/ppt/notesMasters/notesMaster1.xml" Id="R9297b495d02444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265b90c3e34740" /><Relationship Type="http://schemas.openxmlformats.org/officeDocument/2006/relationships/notesMaster" Target="/ppt/notesMasters/notesMaster1.xml" Id="Rdbffd712f2c443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fbb35201a8e4500" /><Relationship Type="http://schemas.openxmlformats.org/officeDocument/2006/relationships/notesMaster" Target="/ppt/notesMasters/notesMaster1.xml" Id="Re414d832f45548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af94d7717e4aed" /><Relationship Type="http://schemas.openxmlformats.org/officeDocument/2006/relationships/notesMaster" Target="/ppt/notesMasters/notesMaster1.xml" Id="R4af89ea82b9942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fd065a4f9a74e0f" /><Relationship Type="http://schemas.openxmlformats.org/officeDocument/2006/relationships/notesMaster" Target="/ppt/notesMasters/notesMaster1.xml" Id="R89c7031eecdd43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5d92a3be8b4a20" /><Relationship Type="http://schemas.openxmlformats.org/officeDocument/2006/relationships/notesMaster" Target="/ppt/notesMasters/notesMaster1.xml" Id="R48544ab7256b4a2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661bb4ef114444a" /><Relationship Type="http://schemas.openxmlformats.org/officeDocument/2006/relationships/notesMaster" Target="/ppt/notesMasters/notesMaster1.xml" Id="Rc95d4f2d539f4b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c17fb62dbd44cf1" /><Relationship Type="http://schemas.openxmlformats.org/officeDocument/2006/relationships/notesMaster" Target="/ppt/notesMasters/notesMaster1.xml" Id="Rceba7315993e4e0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47dad7d23df4aaa" /><Relationship Type="http://schemas.openxmlformats.org/officeDocument/2006/relationships/notesMaster" Target="/ppt/notesMasters/notesMaster1.xml" Id="R2f5ce98fef6e484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91065a903a145fa" /><Relationship Type="http://schemas.openxmlformats.org/officeDocument/2006/relationships/notesMaster" Target="/ppt/notesMasters/notesMaster1.xml" Id="R4c3e6ee25c83407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b1bfda01ced495d" /><Relationship Type="http://schemas.openxmlformats.org/officeDocument/2006/relationships/notesMaster" Target="/ppt/notesMasters/notesMaster1.xml" Id="R08ad695e4fba4d5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c60a7e882be4121" /><Relationship Type="http://schemas.openxmlformats.org/officeDocument/2006/relationships/notesMaster" Target="/ppt/notesMasters/notesMaster1.xml" Id="R913fa4ed13f74c3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eaf7c715400455b" /><Relationship Type="http://schemas.openxmlformats.org/officeDocument/2006/relationships/notesMaster" Target="/ppt/notesMasters/notesMaster1.xml" Id="R5b215e0442934c4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c297549f7d34f89" /><Relationship Type="http://schemas.openxmlformats.org/officeDocument/2006/relationships/notesMaster" Target="/ppt/notesMasters/notesMaster1.xml" Id="R23aa7d3e3d37420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6b80cbb648042eb" /><Relationship Type="http://schemas.openxmlformats.org/officeDocument/2006/relationships/notesMaster" Target="/ppt/notesMasters/notesMaster1.xml" Id="R9f67619358ed42e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11389b542314958" /><Relationship Type="http://schemas.openxmlformats.org/officeDocument/2006/relationships/notesMaster" Target="/ppt/notesMasters/notesMaster1.xml" Id="R3c8aa5ae072947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96aa4dcef7446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e6a2e4299c04648" /><Relationship Type="http://schemas.openxmlformats.org/officeDocument/2006/relationships/slideLayout" Target="/ppt/slideLayouts/slideLayout2.xml" Id="Re2882d291a3d4fd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882d291a3d4f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22488bbc234e51" /><Relationship Type="http://schemas.openxmlformats.org/officeDocument/2006/relationships/notesSlide" Target="/ppt/notesSlides/notesSlide1.xml" Id="Rc0bd29ffb57948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9bad7ed7ee46e5" /><Relationship Type="http://schemas.openxmlformats.org/officeDocument/2006/relationships/notesSlide" Target="/ppt/notesSlides/notesSlide2.xml" Id="Ra946ecd59d7a43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409654e5864306" /><Relationship Type="http://schemas.openxmlformats.org/officeDocument/2006/relationships/notesSlide" Target="/ppt/notesSlides/notesSlide3.xml" Id="Re6bc64c894444c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eaae7cfaaf4450" /><Relationship Type="http://schemas.openxmlformats.org/officeDocument/2006/relationships/image" Target="/ppt/media/image.png" Id="R5bcb4cf89f4446a7" /><Relationship Type="http://schemas.openxmlformats.org/officeDocument/2006/relationships/notesSlide" Target="/ppt/notesSlides/notesSlide4.xml" Id="R44a8914ba8e844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448a2bd0804d4b" /><Relationship Type="http://schemas.openxmlformats.org/officeDocument/2006/relationships/notesSlide" Target="/ppt/notesSlides/notesSlide5.xml" Id="R9e6c6e289db549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cc1efeee7d4f3a" /><Relationship Type="http://schemas.openxmlformats.org/officeDocument/2006/relationships/notesSlide" Target="/ppt/notesSlides/notesSlide6.xml" Id="R1a1f8778710749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7568f010704a91" /><Relationship Type="http://schemas.openxmlformats.org/officeDocument/2006/relationships/image" Target="/ppt/media/image2.png" Id="Rd44853b1b2f04afe" /><Relationship Type="http://schemas.openxmlformats.org/officeDocument/2006/relationships/notesSlide" Target="/ppt/notesSlides/notesSlide7.xml" Id="R5c050db2afdd483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f6619b64ec41a1" /><Relationship Type="http://schemas.openxmlformats.org/officeDocument/2006/relationships/image" Target="/ppt/media/image3.png" Id="Ra7ff700391194ce8" /><Relationship Type="http://schemas.openxmlformats.org/officeDocument/2006/relationships/notesSlide" Target="/ppt/notesSlides/notesSlide8.xml" Id="Rc6ad6801f85543b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987f7c3d384812" /><Relationship Type="http://schemas.openxmlformats.org/officeDocument/2006/relationships/notesSlide" Target="/ppt/notesSlides/notesSlide9.xml" Id="R94f3e52c17c8411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c2ac9a6d4f4a0f" /><Relationship Type="http://schemas.openxmlformats.org/officeDocument/2006/relationships/notesSlide" Target="/ppt/notesSlides/notesSlide10.xml" Id="Rda54fdbf0a304e4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06516de9814536" /><Relationship Type="http://schemas.openxmlformats.org/officeDocument/2006/relationships/notesSlide" Target="/ppt/notesSlides/notesSlide11.xml" Id="R075ae02d9f634ad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c6cb58a3d04d33" /><Relationship Type="http://schemas.openxmlformats.org/officeDocument/2006/relationships/image" Target="/ppt/media/image4.png" Id="R1a59af7778944e60" /><Relationship Type="http://schemas.openxmlformats.org/officeDocument/2006/relationships/notesSlide" Target="/ppt/notesSlides/notesSlide12.xml" Id="Ra4fe623bd9b94ea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637537d0004aa5" /><Relationship Type="http://schemas.openxmlformats.org/officeDocument/2006/relationships/notesSlide" Target="/ppt/notesSlides/notesSlide13.xml" Id="R93ec619d571f4f7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5dae69efd941d0" /><Relationship Type="http://schemas.openxmlformats.org/officeDocument/2006/relationships/image" Target="/ppt/media/image5.png" Id="Rcf37593a388443f8" /><Relationship Type="http://schemas.openxmlformats.org/officeDocument/2006/relationships/notesSlide" Target="/ppt/notesSlides/notesSlide14.xml" Id="R872cb5085cc3457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34b4ae8de14bf6" /><Relationship Type="http://schemas.openxmlformats.org/officeDocument/2006/relationships/image" Target="/ppt/media/image6.png" Id="Rd82ae6c7115d4059" /><Relationship Type="http://schemas.openxmlformats.org/officeDocument/2006/relationships/notesSlide" Target="/ppt/notesSlides/notesSlide15.xml" Id="R05904ace5cb3461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66a671934a4569" /><Relationship Type="http://schemas.openxmlformats.org/officeDocument/2006/relationships/notesSlide" Target="/ppt/notesSlides/notesSlide16.xml" Id="Rd47be8d188b64bc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03F79D-BEA3-488C-BE18-504A4E07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D3A4D9-4814-4A63-8639-93945DAF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FB7A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FB7A7"/>
                </a:solidFill>
                <a:latin typeface="Aptos"/>
                <a:ea typeface="Aptos"/>
                <a:cs typeface="Aptos"/>
              </a:rPr>
              <a:t>FIGURE-OPTIMIZED PAPER BRIEF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CDFAE1-2E2F-40AC-B45D-89E17D84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8572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Demystifying NCCL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1E76BA-F636-4B98-A12A-90A15038B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857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按论文原图讲清协议、传输路径与 collective 算法细节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55A24E-64C7-4AE1-836D-D8DF4A3E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9525">
            <a:solidFill>
              <a:srgbClr val="39C6D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CF0A7D-04E0-4956-A763-6E3BCB3F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31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316"/>
                </a:solidFill>
                <a:latin typeface="Aptos"/>
                <a:ea typeface="Aptos"/>
                <a:cs typeface="Aptos"/>
              </a:rPr>
              <a:t>原图：Ring / Tree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97363C-7150-435C-A0C6-F3CB44BE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000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73"/>
          </a:solidFill>
          <a:ln xmlns:a="http://schemas.openxmlformats.org/drawingml/2006/main" w="9525">
            <a:solidFill>
              <a:srgbClr val="6FBF7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75CB45-55D3-4B43-805A-85FB97969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048125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31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316"/>
                </a:solidFill>
                <a:latin typeface="Aptos"/>
                <a:ea typeface="Aptos"/>
                <a:cs typeface="Aptos"/>
              </a:rPr>
              <a:t>原图：data path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2EBA3B-C5C2-41E5-BC7D-E9A8D8A2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000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44E"/>
          </a:solidFill>
          <a:ln xmlns:a="http://schemas.openxmlformats.org/drawingml/2006/main" w="9525">
            <a:solidFill>
              <a:srgbClr val="F3B44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52BB6C-04E4-4C06-9901-5586218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48125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31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316"/>
                </a:solidFill>
                <a:latin typeface="Aptos"/>
                <a:ea typeface="Aptos"/>
                <a:cs typeface="Aptos"/>
              </a:rPr>
              <a:t>原图：channel split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1D7E43-345B-4E9F-8186-B40BA6A4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000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5D"/>
          </a:solidFill>
          <a:ln xmlns:a="http://schemas.openxmlformats.org/drawingml/2006/main" w="9525">
            <a:solidFill>
              <a:srgbClr val="E56B5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B5B2E8-83B4-4803-912D-1253E78A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048125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31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316"/>
                </a:solidFill>
                <a:latin typeface="Aptos"/>
                <a:ea typeface="Aptos"/>
                <a:cs typeface="Aptos"/>
              </a:rPr>
              <a:t>原图：benchmark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85D0B5-7BE8-45DA-8947-399A19AD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981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改动重点：复杂算法和路径用论文原图承载，旁边保留中文实现拆解；自绘部分只用于结构化摘要。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7CDCCB-87A9-4489-887B-0F1EB4C9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27B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27B70"/>
                </a:solidFill>
                <a:latin typeface="Aptos"/>
                <a:ea typeface="Aptos"/>
                <a:cs typeface="Aptos"/>
              </a:rPr>
              <a:t>Source: Demystifying NCCL, arXiv 2507.04786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51696C-DC3D-401D-9AC2-D858FC7E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27B7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27B70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1221330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FF16C6-A0A5-46E5-9943-FC502962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57FA06-9A60-4EDD-BFAC-D149C40F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B5CE8A-683B-49DF-B87D-EA063207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FB7A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FB7A7"/>
                </a:solidFill>
                <a:latin typeface="Aptos"/>
                <a:ea typeface="Aptos"/>
                <a:cs typeface="Aptos"/>
              </a:rPr>
              <a:t>READING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05298D-17A6-4959-8081-91361B539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00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这版按论文结构，但在关键实现处直接使用原图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E266BD-6556-4BE8-943C-C7A85CE9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914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读法：先建立 stack，再看 protocol、transport、collective，最后看 benchmark 和建模价值。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BC4130-5574-4E9B-8F43-69D00B7D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27B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27B70"/>
                </a:solidFill>
                <a:latin typeface="Aptos"/>
                <a:ea typeface="Aptos"/>
                <a:cs typeface="Aptos"/>
              </a:rPr>
              <a:t>Source: Demystifying NCCL, arXiv 2507.04786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5DB48C-3E6A-447A-8946-75CC227E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27B7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27B70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844191-54F9-4185-ACF0-F1F1E9AC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9525">
            <a:solidFill>
              <a:srgbClr val="39C6D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670B48-8E01-4087-AA2E-53712550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31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316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0228D9-C830-4256-8571-9F7D2756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288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NCCL overview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D41AAD-9A1B-4E69-A492-7679DBB2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57425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API、communicator、channel、logical topology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0E8943-370C-4065-AE5B-5723BDE1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05100"/>
            <a:ext cx="910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33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C9F8BA-B557-47BB-BA84-94D29805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43225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44E"/>
          </a:solidFill>
          <a:ln xmlns:a="http://schemas.openxmlformats.org/drawingml/2006/main" w="9525">
            <a:solidFill>
              <a:srgbClr val="F3B44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6A7E6B-C09A-4D42-B702-C1CD2128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90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31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316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06E080-9BB1-4448-BF89-12F132F5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3370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Protocol internals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D713A3-2290-4EA2-8DDF-6A751DB9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62275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Simple / LL / LL128 的同步与 payload 粒度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A33A0F-B309-4FD6-9F2C-6D111F8E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09950"/>
            <a:ext cx="910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3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767048-A0B9-4D24-8247-6616C896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48075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73"/>
          </a:solidFill>
          <a:ln xmlns:a="http://schemas.openxmlformats.org/drawingml/2006/main" w="9525">
            <a:solidFill>
              <a:srgbClr val="6FBF7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ABB5A9-6A8C-446A-A6AA-E997788B0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95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31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316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18CDB4-8583-4255-B024-0F4B6758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385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Transport layer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1FB709-F94B-4068-99E7-31993BFA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67125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节点内 Fig.1；跨节点 Fig.2；IB QP/CTS/flush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E743AC-3337-4742-BF9B-1EF7FF84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14800"/>
            <a:ext cx="910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33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8D079E-DD78-4627-9D4A-B18CF745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52925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A6FF"/>
          </a:solidFill>
          <a:ln xmlns:a="http://schemas.openxmlformats.org/drawingml/2006/main" w="9525">
            <a:solidFill>
              <a:srgbClr val="6BA6F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28B505-81D9-4376-B547-D822586E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00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31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316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5DF013-FB42-49A8-A55F-0A991FBC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4340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Collective algorithms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93A1FC-D99E-4586-B40E-5A94AE41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371975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Fig.4 Ring AllReduce；Fig.5 Tree AllReduce；primitive 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1C32CA-763D-4047-90A9-344011A0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19650"/>
            <a:ext cx="910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33B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F427C5-D429-4597-891E-4AA7469F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57775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5D"/>
          </a:solidFill>
          <a:ln xmlns:a="http://schemas.openxmlformats.org/drawingml/2006/main" w="9525">
            <a:solidFill>
              <a:srgbClr val="E56B5D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63F545-8F5E-4F3D-BE36-79249528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05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31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316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E93718-49E4-4DC3-B263-3A8177E83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482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7E5AF9-9231-466B-971B-AB0272AA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76825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Fig.6 benchmark；ATLAHS 模拟启发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E6E575-7279-4237-A3E9-76F091FC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524500"/>
            <a:ext cx="910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33B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59938668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48D5B0-7AEE-4424-9DF8-7BE44BC5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CA61B7-4AB1-4C51-8FF7-E21D3825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F19684-C61F-45C0-A35C-CA4C3065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FB7A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FB7A7"/>
                </a:solidFill>
                <a:latin typeface="Aptos"/>
                <a:ea typeface="Aptos"/>
                <a:cs typeface="Aptos"/>
              </a:rPr>
              <a:t>NCCL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35B474-7789-46DE-80AA-43823D26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00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API 层很薄，真正复杂度在运行时选择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D5CF8-7401-4A05-A68B-30D41FCE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914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communicator 初始化建立 rank/channel/topology；collective 调用时再选择 algorithm、protocol 和 channel 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D8BBE8-0167-45D6-A683-8B2922A5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27B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27B70"/>
                </a:solidFill>
                <a:latin typeface="Aptos"/>
                <a:ea typeface="Aptos"/>
                <a:cs typeface="Aptos"/>
              </a:rPr>
              <a:t>Source: Demystifying NCCL, arXiv 2507.04786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47360C-B61D-4603-8372-673BD855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27B7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27B70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42C23A-111B-47BF-8681-20C2DFF9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0505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0FDB83-4D5E-4F9C-9278-FD20B619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05050"/>
            <a:ext cx="4762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DABF57-8C78-4F4C-88EA-E4D93094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Communicator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D3CEEF-5772-4104-B897-C61B9AB3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21145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ncclCommInitAll / InitRank</a:t>
            </a:r>
          </a:p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每个 GPU rank 一个 comm</a:t>
            </a:r>
          </a:p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Destroy / Abort 处理结束和异常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9766B3-D55C-4BD5-A91E-553EEBCA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0505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1E5E60-EDA4-4DFE-9103-CAAF5CBC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05050"/>
            <a:ext cx="4762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44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719087-8E75-49E6-88F6-8C38992D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28875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Collectives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A7E8FB-3C2B-4297-8569-6C500823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05100"/>
            <a:ext cx="21145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AllReduce / Broadcast / Reduce</a:t>
            </a:r>
          </a:p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AllGather / ReduceScatter</a:t>
            </a:r>
          </a:p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训练同步主路径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EE2310-45F9-4BA3-BCC6-F860F034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0505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0AC0E5-241E-4041-93F2-3E22371A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05050"/>
            <a:ext cx="4762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7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84DEA6-98CE-4679-A263-03CCA13F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28875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P2P + Group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060CEC-2CC7-4A85-8E73-EC96EE36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21145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ncclSend / ncclRecv</a:t>
            </a:r>
          </a:p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GroupStart / GroupEnd 聚合 launch</a:t>
            </a:r>
          </a:p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降低 CPU 调度开销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ED7F6E-FACC-4638-8B78-B8573D09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0505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FAF43B-B5AB-4F3C-979C-E271C0A7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05050"/>
            <a:ext cx="4762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A6F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DA3CD5-0B30-46D5-ACD8-8D3F7971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28875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Runtime tuning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14C22B-9684-4617-87A7-F1789557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05100"/>
            <a:ext cx="21145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基于 topology、message size、buffer resource</a:t>
            </a:r>
          </a:p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选择 algorithm/protocol pair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5FA64B-BAB7-4668-A69C-9B7097D0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990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实现上，NCCL 是 GPU-centric：GPU kernel 负责规约与数据搬运；CPU proxy 管网络操作；NIC/NVLink/PCIe 执行传输。API 像 MPI，但内部路径完全围绕 GPU memory 和 topology 设计。</a:t>
            </a:r>
          </a:p>
        </p:txBody>
      </p:sp>
    </p:spTree>
    <p:extLst>
      <p:ext uri="{BB962C8B-B14F-4D97-AF65-F5344CB8AC3E}">
        <p14:creationId xmlns:p14="http://schemas.microsoft.com/office/powerpoint/2010/main" val="103857567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8625B4-2EDD-4D1D-B7A3-7E51584D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683EE5-96CC-4876-AEBB-478325F6E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CDFDEE-C8EA-49F5-8031-0BF211DA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FB7A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FB7A7"/>
                </a:solidFill>
                <a:latin typeface="Aptos"/>
                <a:ea typeface="Aptos"/>
                <a:cs typeface="Aptos"/>
              </a:rPr>
              <a:t>CHANNEL PARTITION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A26DA3-647F-4AEC-8C25-9711B731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00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论文 Fig.3 更清楚地展示了 channel / loop / chunk 的关系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D365CB-4DDD-49D8-9309-0A7C3F27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914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每个 channel 映射到 CUDA block/SM；数据按 workOffset 切片，再按 loopCount/chunkCount 进入 pipeline。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E43CF8-7020-494F-9D79-E19245C8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27B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27B70"/>
                </a:solidFill>
                <a:latin typeface="Aptos"/>
                <a:ea typeface="Aptos"/>
                <a:cs typeface="Aptos"/>
              </a:rPr>
              <a:t>Source: Demystifying NCCL, arXiv 2507.04786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850045-1C37-413C-9FB4-7D044A6E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27B7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27B70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D2E854-B050-4B41-B900-B4F7416F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5619750" cy="376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cb4cf89f4446a7"/>
          <a:stretch xmlns:a="http://schemas.openxmlformats.org/drawingml/2006/main"/>
        </p:blipFill>
        <p:spPr>
          <a:xfrm xmlns:a="http://schemas.openxmlformats.org/drawingml/2006/main">
            <a:off x="1141734" y="2333625"/>
            <a:ext cx="4774557" cy="3429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6458FC-5193-4893-8A9F-5CF055FC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66950"/>
            <a:ext cx="3714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771109-CA71-4B6A-80BE-DC65D71F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66950"/>
            <a:ext cx="47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0EB592-3961-4625-83AA-FFCC3D86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90775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1. channel split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DBB7F4-EA1F-46C9-9457-43F6F48B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67000"/>
            <a:ext cx="34480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总 count 先切给多个 channel；每个 channel 只处理自己的连续 region。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FE9E45-798C-47D3-9F03-C4F233A7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57575"/>
            <a:ext cx="3714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96C4A2-2BB5-4E8D-B23C-B35F6ED97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57575"/>
            <a:ext cx="47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44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BA06AD-2ACF-475B-8E17-F41E051B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81400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2. loop iteration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5C8786-0601-4073-BA4C-F134666D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857625"/>
            <a:ext cx="34480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如果 region 大于 channel buffer，就分多个 outer loop；每个 loop 处理 loopCount。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79A37D-00DA-40A8-817C-8CDA1AE0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48200"/>
            <a:ext cx="3714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1B14C4-3E44-4134-8CD3-2C95CD9E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48200"/>
            <a:ext cx="47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7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4F4774-6551-4C4F-89A9-C9BB4598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772025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3. elementary step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94EC06-BDE6-432C-BE39-3812691A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048250"/>
            <a:ext cx="34480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每个 step 处理 chunkCount；slot 让通信、copy、reduce 阶段交叠。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2F197A-4A74-438C-88D2-764C6E7C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76950"/>
            <a:ext cx="971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关键权衡：channel 太少吃不满链路；太多会让 per-channel chunk 太小，NIC FIFO/QP/ECMP 效率下降。</a:t>
            </a:r>
          </a:p>
        </p:txBody>
      </p:sp>
    </p:spTree>
    <p:extLst>
      <p:ext uri="{BB962C8B-B14F-4D97-AF65-F5344CB8AC3E}">
        <p14:creationId xmlns:p14="http://schemas.microsoft.com/office/powerpoint/2010/main" val="27334986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1DACDD-3751-463A-B525-E1F368D3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641A2C-5D60-4DC7-AC5C-3DAD0E1A1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6CA0B4-4A0C-4DF3-BFBE-5DF6B331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FB7A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FB7A7"/>
                </a:solidFill>
                <a:latin typeface="Aptos"/>
                <a:ea typeface="Aptos"/>
                <a:cs typeface="Aptos"/>
              </a:rPr>
              <a:t>CHANNEL BUFFER DEFAULTS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45F033-3570-4237-9573-35269115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00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不同 protocol 的 channel buffer 和有效数据量不同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F122AF-EFC3-4961-98C2-F4A5CBE1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914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这些数字解释了为什么同样的 collective，在不同协议下 pipeline 行为会明显变化。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5031F8-AFE8-4E7D-AD01-2D419AED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27B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27B70"/>
                </a:solidFill>
                <a:latin typeface="Aptos"/>
                <a:ea typeface="Aptos"/>
                <a:cs typeface="Aptos"/>
              </a:rPr>
              <a:t>Source: Demystifying NCCL, arXiv 2507.04786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AA4390-ACE9-4164-8DB3-3ADEE0AF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27B7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27B70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67C973-81AC-45D0-925B-CF5B598C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8B2962-F331-431D-BDA6-F1DF7232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400300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131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1316"/>
                </a:solidFill>
                <a:latin typeface="Aptos"/>
                <a:ea typeface="Aptos"/>
                <a:cs typeface="Aptos"/>
              </a:rPr>
              <a:t>Protocol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71BB5B-1A98-4F00-86EF-0629B3C8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33625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177951-BB08-4763-9C49-82F04DBA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4003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1316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101316"/>
                </a:solidFill>
                <a:latin typeface="PingFang SC"/>
                <a:ea typeface="PingFang SC"/>
                <a:cs typeface="PingFang SC"/>
              </a:rPr>
              <a:t>Total channel buffer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B8BB5F-D5F2-4D33-BAB4-B82DA87A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33625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FF2959-F8DD-4A60-AF3B-68389F94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400300"/>
            <a:ext cx="2324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1316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101316"/>
                </a:solidFill>
                <a:latin typeface="PingFang SC"/>
                <a:ea typeface="PingFang SC"/>
                <a:cs typeface="PingFang SC"/>
              </a:rPr>
              <a:t>Buffer capacity per slot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AEEEB3-8070-49B5-AE14-81CCD8A3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33625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B771DD-062B-4D52-971C-9C605F69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400300"/>
            <a:ext cx="2324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1316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101316"/>
                </a:solidFill>
                <a:latin typeface="PingFang SC"/>
                <a:ea typeface="PingFang SC"/>
                <a:cs typeface="PingFang SC"/>
              </a:rPr>
              <a:t>Effective data per slot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CD31A2-8160-46AF-AF6B-7BF5CAB3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28925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CD1E8B-0EE8-4BB7-9A93-6EAB3604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895600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Simple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B9C711-7A77-4E71-937D-69E67EF0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28925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96F268-7E85-466A-A05C-B1349BAB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8956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4 MiB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4405BA-B55E-4C06-871E-B830BC392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28925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D739DE-C620-45B2-8677-8F9487E5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895600"/>
            <a:ext cx="2324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512 KiB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60CBD0-CD12-4D90-A089-0E68873D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28925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CB16DA-99DA-4E15-9324-8FFEE75F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895600"/>
            <a:ext cx="2324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512 KiB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1238E2-6E8A-4194-A097-2C035660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24225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1F992C-CB82-4DE0-906E-D750966D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390900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LL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C35B97-C149-484F-9F45-265B4280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24225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C6B156-8CD8-4CA2-80A1-2963A48A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3909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256 KiB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595906-23FB-42B4-AF14-C23BD898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24225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DD809C-94C7-4866-A802-9ECED5E2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390900"/>
            <a:ext cx="2324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32 KiB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581F79-69EE-4314-A321-70C7FE75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24225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77A7FF-AD1C-46C7-BD8E-A6775A8F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390900"/>
            <a:ext cx="2324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16 KiB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236EED-5213-461A-A177-8F4F2F75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9525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690C8C-5DB7-4D15-B408-CBC79DBA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886200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LL128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A481D6-0C0B-4186-8B6C-7EF78A59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19525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824722-A792-4085-A46F-D0B1A6FA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8862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~4800 KiB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00922B-D0D6-4D7C-9F2D-D44D9122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819525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4AE3D9-D3AC-459D-8237-A17BBA5A5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886200"/>
            <a:ext cx="2324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600 KiB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B7E3F4-0637-4E06-9215-3246D78C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19525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C961BBF-2DC0-48D1-AA10-A1CB56F3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886200"/>
            <a:ext cx="2324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562.5 KiB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5FF8E7A-20A8-4B55-A0D4-10AB3C09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149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4CB1DD4-0A7E-451F-A59D-67964C432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577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Simple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57FC589-6F06-46FC-BBD1-72B569E4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76825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大 slot、大 chunk，减少同步频率，适合吞吐优先。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AB963AF-33A7-490E-8ECD-DC5582A6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149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44E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3ACDE87-C26C-478E-9AD9-50F0BDDD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LL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D68E1AF-D416-4F67-B397-B1D745EE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76825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flag 占一半传输单元，有效数据少，但 latency 很低。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6D44004-2496-4F63-8D4B-3CBE9E18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149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73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40CE8A0-8A69-4E67-8930-9B1E172C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8577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LL128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15904DA-4E24-4E9A-A2A8-F6062BA4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76825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slot 大且有效载荷高，但要硬件支持 128B atomic write。</a:t>
            </a:r>
          </a:p>
        </p:txBody>
      </p:sp>
    </p:spTree>
    <p:extLst>
      <p:ext uri="{BB962C8B-B14F-4D97-AF65-F5344CB8AC3E}">
        <p14:creationId xmlns:p14="http://schemas.microsoft.com/office/powerpoint/2010/main" val="87664696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FCAB03-78E0-4303-86AD-C52F436A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7E347F-49D7-408D-BCBB-657B67B0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F87E4F-21B5-485B-9D12-4EAE8333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FB7A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FB7A7"/>
                </a:solidFill>
                <a:latin typeface="Aptos"/>
                <a:ea typeface="Aptos"/>
                <a:cs typeface="Aptos"/>
              </a:rPr>
              <a:t>PROTOCOLS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630CC0-A20E-4799-A246-9AB5CAF3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00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Simple、LL、LL128 的差异来自同步机制和 payload 粒度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E2E63F-0CA1-471F-A619-0669AC29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914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协议选择受 NCCL_PROTO、algorithm、topology、message size、GPU 架构和 buffer resource 共同约束。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908C22-5BD9-425B-B032-12BF81BC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27B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27B70"/>
                </a:solidFill>
                <a:latin typeface="Aptos"/>
                <a:ea typeface="Aptos"/>
                <a:cs typeface="Aptos"/>
              </a:rPr>
              <a:t>Source: Demystifying NCCL, arXiv 2507.04786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A9A96B-7A3D-4BC7-A3A9-146274F40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27B7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27B70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431451-5A39-47EB-8E0D-C2454DFB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38375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ED9BBE-E47A-40BF-9D3D-F47F99E7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30505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131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1316"/>
                </a:solidFill>
                <a:latin typeface="Aptos"/>
                <a:ea typeface="Aptos"/>
                <a:cs typeface="Aptos"/>
              </a:rPr>
              <a:t>Protocol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06E7C3-BD92-4DB5-8793-0D97DA0D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238375"/>
            <a:ext cx="17621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82E7DE-C215-429C-9E90-33DF4798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305050"/>
            <a:ext cx="1609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1316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101316"/>
                </a:solidFill>
                <a:latin typeface="PingFang SC"/>
                <a:ea typeface="PingFang SC"/>
                <a:cs typeface="PingFang SC"/>
              </a:rPr>
              <a:t>Goal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85CC8A-D495-4416-8E2D-77AF1538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238375"/>
            <a:ext cx="17621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C9E3B6-CADB-4A65-AEBA-A4E175AF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305050"/>
            <a:ext cx="1609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1316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101316"/>
                </a:solidFill>
                <a:latin typeface="PingFang SC"/>
                <a:ea typeface="PingFang SC"/>
                <a:cs typeface="PingFang SC"/>
              </a:rPr>
              <a:t>Sync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E9DEED-D47D-4B10-A825-52B1C925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238375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CECD99-3C44-4DA2-960A-A4BC7C44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305050"/>
            <a:ext cx="1847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1316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101316"/>
                </a:solidFill>
                <a:latin typeface="PingFang SC"/>
                <a:ea typeface="PingFang SC"/>
                <a:cs typeface="PingFang SC"/>
              </a:rPr>
              <a:t>Payload unit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863F24-C758-48FF-8D4C-E5C2C411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238375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E88562-CA96-4AE8-B9CF-27E082B7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305050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1316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101316"/>
                </a:solidFill>
                <a:latin typeface="PingFang SC"/>
                <a:ea typeface="PingFang SC"/>
                <a:cs typeface="PingFang SC"/>
              </a:rPr>
              <a:t>Bandwidth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C452A8-6639-402F-8D97-2285A426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238375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5E07A2-C43E-4545-8774-FEF266817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305050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1316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101316"/>
                </a:solidFill>
                <a:latin typeface="PingFang SC"/>
                <a:ea typeface="PingFang SC"/>
                <a:cs typeface="PingFang SC"/>
              </a:rPr>
              <a:t>Latency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BB216C-2272-4828-96FC-E5F9EFF1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33675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8A37ED-9A4B-4031-BC4B-4366B62E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80035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Simple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F57E4E-FADE-45AC-A141-EDC1441F6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733675"/>
            <a:ext cx="17621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5FF780-694C-48A2-B5D7-40B78804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800350"/>
            <a:ext cx="1609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High bandwidth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57B8CD-FCF2-4523-82BF-ED9DFA6F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733675"/>
            <a:ext cx="17621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412DF2-77DE-47E3-BF88-20C7C8A0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800350"/>
            <a:ext cx="1609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Memory fences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D67D52-B06F-4850-AC27-3FBDF14A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733675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ECFBC9-ED95-42A0-9564-BCCD0C8A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800350"/>
            <a:ext cx="1847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Data chunks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C1D1AB-863C-4EF1-AE66-F9EA1F2FB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33675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8C0F29-3320-4746-9770-46924AD1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800350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Near peak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006AF1-2AEB-4C9D-8749-6E1A3F59D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33675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5FE617-41A0-4833-B195-8C0385C7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800350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~6µs/hop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8503BC-3E4E-4021-B2DF-D52325D4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28975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F368E6-5453-48F2-944E-35DD34EA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29565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LL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5F518C-0BEC-4EE9-91C5-E2AE5C8F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228975"/>
            <a:ext cx="17621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121844-D0ED-4D18-87D0-020AD9D0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295650"/>
            <a:ext cx="1609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Low latency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3B1D9F6-94D4-4910-BF49-9468DB04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228975"/>
            <a:ext cx="17621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D15CE50-830A-4BE1-AC1E-C5393DBA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295650"/>
            <a:ext cx="1609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Flag-based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09A5AD0-84CE-426F-9A2C-46ED5194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228975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6F6BA34-F96C-4232-A0D7-BDD5B1674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3295650"/>
            <a:ext cx="1847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4B data + 4B flag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91214FC-EF2F-4BE8-94EE-FC237B22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28975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D1C45BF-693D-4A6D-94F5-FC0BD9C5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295650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25-50% peak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1615666-A56F-440D-81B4-E6B52793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28975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91BB6F1-F6D5-40AE-A365-1C5DC406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295650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~1µs/hop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B0ECC13-1D12-410C-A1B6-B5329561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ECA4196-8C5D-4B71-93E3-366808B8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79095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LL128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F7E4036-0D63-48D7-A4B8-FD028C95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724275"/>
            <a:ext cx="17621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2F17CF3-5A66-4280-9C1D-14185FC0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790950"/>
            <a:ext cx="1609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Latency + bandwidth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0BB2942-C3DD-46C2-A9DE-6EBDCCB7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724275"/>
            <a:ext cx="17621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F7700D1-1699-4A0D-A65D-85FA9642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790950"/>
            <a:ext cx="1609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Flag-based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BC129B4-49FA-46B7-86C0-44B2BF4C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724275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66FCD2F-48E5-4D9D-8E36-42E3CBCD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3790950"/>
            <a:ext cx="1847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120B data + 8B flag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09C77E0-C7E7-454A-8D27-02C76AD32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724275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C8E0BCF-1D03-4729-9B8A-8B87D32F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790950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~95% peak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79395F3-C7DF-448E-AF54-573A002A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724275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4DA2FA2-D120-4FE9-A0EE-21F1E047B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790950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~2µs/hop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25AD1DC-108A-4F58-9194-5D9C0C35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434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384F9E6-F8D4-42B3-880C-68B1B883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8630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Simple 实现点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A7A2AC8-5C35-481D-B569-9760FF86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05375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receiver 等完整 chunk 可见；fence 对小消息昂贵，但大消息同步次数少。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ED0EAB8-55F1-42A1-BCCC-5A965F7D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7434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44E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7FB1555-3BF5-4CF0-8063-99287A87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68630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LL 实现点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FDE8E15-D034-4E5A-8479-AE193E8A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905375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用 8-byte atomic 写 data+flag；host buffer 便于 CPU poll，通常限制 GDRDMA。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9944C69-B821-43E4-9149-C6030D2F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434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73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777C6AA-BD4B-4C2A-82C4-6F51C4B64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8630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LL128 实现点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1673435-C0F7-4DAD-AE40-C8977969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05375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120B data + 8B flag；NVLink 上好用，跨节点大消息可能被大量 sync 拖慢。</a:t>
            </a:r>
          </a:p>
        </p:txBody>
      </p:sp>
    </p:spTree>
    <p:extLst>
      <p:ext uri="{BB962C8B-B14F-4D97-AF65-F5344CB8AC3E}">
        <p14:creationId xmlns:p14="http://schemas.microsoft.com/office/powerpoint/2010/main" val="137702423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4DEE0C-0252-464B-B22A-E5CF3F69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BA7362-3EE8-4E47-8D6C-4A4F2565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FD7B18-2C91-43E3-9A5F-98ACC1DC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FB7A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FB7A7"/>
                </a:solidFill>
                <a:latin typeface="Aptos"/>
                <a:ea typeface="Aptos"/>
                <a:cs typeface="Aptos"/>
              </a:rPr>
              <a:t>INTRA-NODE DATA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E7F66D-70DA-4341-BDBD-549DA266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00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节点内路径建议直接看论文 Fig.1：P2P_DIRECT / P2P / SHM 同时标出来了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D4F5D5-B5DE-452B-B358-21FB81A6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914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NCCL 优先 GPUDirect P2P；P2P 不可用或跨 socket 太差时才走 host shared memory。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C4B363-2FB3-4221-A4E9-9EADE935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27B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27B70"/>
                </a:solidFill>
                <a:latin typeface="Aptos"/>
                <a:ea typeface="Aptos"/>
                <a:cs typeface="Aptos"/>
              </a:rPr>
              <a:t>Source: Demystifying NCCL, arXiv 2507.04786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E63204-C6FE-457C-A9BA-BE777A9F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27B7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27B70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C1AD6E-0A64-4EBA-8E80-07D6871D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6191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4853b1b2f04afe"/>
          <a:stretch xmlns:a="http://schemas.openxmlformats.org/drawingml/2006/main"/>
        </p:blipFill>
        <p:spPr>
          <a:xfrm xmlns:a="http://schemas.openxmlformats.org/drawingml/2006/main">
            <a:off x="781050" y="2418018"/>
            <a:ext cx="5953125" cy="3279264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00CD89-781A-496B-B428-C25DF9D4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66950"/>
            <a:ext cx="3714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91BCCA-7687-4E0D-BFAE-4336891A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66950"/>
            <a:ext cx="476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7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521C57-0C30-4C68-8EF2-21B71D25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90775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P2P_DIRECT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B3AD3A-E3AD-448B-871B-9C554834C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667000"/>
            <a:ext cx="34480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同一进程地址空间内启用；绕开 IPC handle 和 intermediate FIFO，directSend/directRecv 直接操作源/目标 buffer。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FBB391-4A10-4D7C-BA7A-455F817E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09950"/>
            <a:ext cx="3714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DE66AB-3E18-491C-BC95-A7D36AAD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09950"/>
            <a:ext cx="476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BD21D5-46D8-4360-84A6-26F58F5A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533775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P2P IPC / CUMEM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42F383-C6E2-45C3-8ED6-33FF5255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810000"/>
            <a:ext cx="34480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跨进程仍可 GPU-to-GPU，但需要 IPC/CUMEM handle 和 FIFO buffer。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9E8A00-E2FE-409B-8F72-ABAC6EC5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52950"/>
            <a:ext cx="3714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AA6FFA-8353-44F9-A63D-123B917E3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52950"/>
            <a:ext cx="476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44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6784CC-BE51-45F7-BA45-AFA14CEB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676775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SHM fallback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447F4E-9E65-4F90-8607-3E8A3D51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953000"/>
            <a:ext cx="34480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P2P 不可用或跨 socket P2P 表现差时，走 host shared memory；多一次 PCIe/host staging。</a:t>
            </a:r>
          </a:p>
        </p:txBody>
      </p:sp>
    </p:spTree>
    <p:extLst>
      <p:ext uri="{BB962C8B-B14F-4D97-AF65-F5344CB8AC3E}">
        <p14:creationId xmlns:p14="http://schemas.microsoft.com/office/powerpoint/2010/main" val="110566663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8BB5A6-62B5-45D0-A396-531C844B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8DF1B3-2588-43FC-B271-661A105D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852022-377C-49EC-9FF2-784B3CFA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FB7A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FB7A7"/>
                </a:solidFill>
                <a:latin typeface="Aptos"/>
                <a:ea typeface="Aptos"/>
                <a:cs typeface="Aptos"/>
              </a:rPr>
              <a:t>INTER-NODE DATA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27C042-3D03-4EAF-9CD6-F05B169DA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00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跨节点路径用论文 Fig.2：kernel / proxy / memory / NIC 一图讲清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EA4E8E-7374-4AA2-8B1D-953AED93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914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Socket 与 IB 都有 rendezvous；IB/GDRDMA 的关键是 intermediate buffer 能否放在 GPU memory。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985B5C-638C-46A5-8657-59BEFD4B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27B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27B70"/>
                </a:solidFill>
                <a:latin typeface="Aptos"/>
                <a:ea typeface="Aptos"/>
                <a:cs typeface="Aptos"/>
              </a:rPr>
              <a:t>Source: Demystifying NCCL, arXiv 2507.04786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3F05A3-88AA-469C-95FB-C306E886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27B7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27B70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BF4BFD-5D58-436A-9FC0-AA52F1E1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5715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ff700391194ce8"/>
          <a:stretch xmlns:a="http://schemas.openxmlformats.org/drawingml/2006/main"/>
        </p:blipFill>
        <p:spPr>
          <a:xfrm xmlns:a="http://schemas.openxmlformats.org/drawingml/2006/main">
            <a:off x="1533859" y="2238375"/>
            <a:ext cx="3828382" cy="376237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A4EAD7-1738-4F17-A37B-1878507C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66950"/>
            <a:ext cx="3905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B8F210-4A1D-49E7-98A4-139CFE22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66950"/>
            <a:ext cx="47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5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063A23-0360-45A4-A800-92FC7E20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90775"/>
            <a:ext cx="3638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Socket transport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994D92-BAEB-474B-81D7-C7A769C3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67000"/>
            <a:ext cx="36385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无 RDMA 时使用 net_socket.cc；GPU → pinned host buffer → socket → host buffer → GPU。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72E928-3230-48E1-BECE-EF5DDB7D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86150"/>
            <a:ext cx="3905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900A39-CB78-4B41-B4E2-9BF729C9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86150"/>
            <a:ext cx="47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44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FBFA8C-3B80-4C9F-A0D2-8BD0F8A6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09975"/>
            <a:ext cx="3638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IB without GDRDMA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B56112-9A49-461F-ACC7-D130F6D3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886200"/>
            <a:ext cx="36385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CPU proxy post RDMA，但 intermediate buffer 在 host memory；仍有 GPU/host staging。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9633A0-2465-48B5-8BD7-8C825A5A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05350"/>
            <a:ext cx="3905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B87B02-75D3-4C90-A768-6EBEAD23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05350"/>
            <a:ext cx="47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7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C5E869-16BE-4332-9C26-5DCEFAE4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829175"/>
            <a:ext cx="3638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IB with GDRDMA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C2ED00-69F0-4914-A5A5-410D5DA7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05400"/>
            <a:ext cx="36385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NIC 注册并直接访问 GPU memory buffer，绕过 host staging；受 PCIe switch/topology 限制。</a:t>
            </a:r>
          </a:p>
        </p:txBody>
      </p:sp>
    </p:spTree>
    <p:extLst>
      <p:ext uri="{BB962C8B-B14F-4D97-AF65-F5344CB8AC3E}">
        <p14:creationId xmlns:p14="http://schemas.microsoft.com/office/powerpoint/2010/main" val="189764269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D152BD-3800-4C3F-860C-721CA52B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60A106-55A7-4612-A77E-39E9A25E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8B96CF-323D-40A7-80AD-770BA4B9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FB7A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FB7A7"/>
                </a:solidFill>
                <a:latin typeface="Aptos"/>
                <a:ea typeface="Aptos"/>
                <a:cs typeface="Aptos"/>
              </a:rPr>
              <a:t>IB TRANSPORT DETAILS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DB16F3-F323-42AB-9FC5-5F31ED9B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00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这里自绘反而更清楚：论文文字里分散描述了 QP、CTS 和 flush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1AC865-BA34-4820-83FA-F45837E7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914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这些细节决定了 IB transport 的延迟、吞吐和正确性。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A5052B-FD21-49A9-88E3-991AFBE4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27B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27B70"/>
                </a:solidFill>
                <a:latin typeface="Aptos"/>
                <a:ea typeface="Aptos"/>
                <a:cs typeface="Aptos"/>
              </a:rPr>
              <a:t>Source: Demystifying NCCL, arXiv 2507.04786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4E40F5-1093-489A-8362-B6D4231E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27B7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27B70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FB9737-7D56-48D2-A137-AA124950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2381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2F9FBA-6C72-4B18-9F48-62A741D6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5EE82F-DD03-4E58-ADC0-D79A4422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90775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Per-peer multi-channel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7B137E-AF00-433E-93D1-F48EDC7C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0"/>
            <a:ext cx="21145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默认每个 remote GPU/NIC 有 2 个 logical channel；proxy 轮转 sendComm，提高 QP chunk 和 ECMP 多路径利用。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75B11B-933C-4965-91BB-815E61FC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66950"/>
            <a:ext cx="2381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E445AA-B775-43AC-8020-C02504F7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6695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7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F607A2-0B76-49FC-AF14-8A030837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390775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Forward data QP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89167D-1A54-4FDF-96E5-D7403C30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67000"/>
            <a:ext cx="21145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承载 bulk RDMA_WRITE；最后 RDMA_WRITE_WITH_IMM 发 completion，可配合 adaptive routing。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D52129-0685-4A89-9C14-578B6E95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2381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8EC6F1-356E-4D7D-B58D-E677F1E1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44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391E48-9220-4663-847F-89B01589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90775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Reverse CTS QP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BF4EA2-C34A-4E4C-AD4F-D85550FD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67000"/>
            <a:ext cx="21145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只承载 clear-to-send：remote buffer addr、rkey、tag。控制消息避免被大流量阻塞。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ADD86D-8E89-4C49-9560-DF8A632A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66950"/>
            <a:ext cx="2381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CBD906-D523-48F6-A109-F20D660A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6695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5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3C7DE4-1F2D-450D-9788-48D5BA46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90775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Flush QP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F9E0A9-1DCB-42A7-ADB4-FC8E40FF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67000"/>
            <a:ext cx="21145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GDRDMA 接收后 loop-back RDMA_READ；不出主机但等待 PCIe write completion。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BDB46B-BD14-43B6-AF2C-C37940B6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29150"/>
            <a:ext cx="942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90500" tIns="114300" rIns="190500" bIns="11430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316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1316"/>
                </a:solidFill>
                <a:latin typeface="PingFang SC"/>
                <a:ea typeface="PingFang SC"/>
                <a:cs typeface="PingFang SC"/>
              </a:rPr>
              <a:t>实现理解：IB transport 不是“NIC 直接发数据”这么简单；proxy thread、QP layout、immediate data、CTS 和 flush 共同保证可见性与性能。</a:t>
            </a:r>
          </a:p>
        </p:txBody>
      </p:sp>
    </p:spTree>
    <p:extLst>
      <p:ext uri="{BB962C8B-B14F-4D97-AF65-F5344CB8AC3E}">
        <p14:creationId xmlns:p14="http://schemas.microsoft.com/office/powerpoint/2010/main" val="185289926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2242EE-455E-479D-A9E1-360CF465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5348EA-92C8-42DD-8E50-529D183C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0A48DA-1BA2-41A0-8668-442BEAB5E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FB7A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FB7A7"/>
                </a:solidFill>
                <a:latin typeface="Aptos"/>
                <a:ea typeface="Aptos"/>
                <a:cs typeface="Aptos"/>
              </a:rPr>
              <a:t>COLLECTIVE SUPPORT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6723AF-9F81-4F54-BE1A-1EC03E20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00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不是每个 collective 都能使用所有 algorithm/protocol 组合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0BAFD2-8002-44BC-8CC9-212D40831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914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论文从 NCCL 2.19 源码整理支持矩阵；Ring/Tree 是最通用、最适合讲实现的路径。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4DB6D0-FD6F-46EF-9CBA-55F2A277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27B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27B70"/>
                </a:solidFill>
                <a:latin typeface="Aptos"/>
                <a:ea typeface="Aptos"/>
                <a:cs typeface="Aptos"/>
              </a:rPr>
              <a:t>Source: Demystifying NCCL, arXiv 2507.04786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29B2B5-B5C6-40B3-8A51-2C8A5BB5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27B7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27B70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4639A6-8452-4E54-9216-9426CD90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0707FD-EDE6-4A69-8168-C29FAB93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257425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131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1316"/>
                </a:solidFill>
                <a:latin typeface="Aptos"/>
                <a:ea typeface="Aptos"/>
                <a:cs typeface="Aptos"/>
              </a:rPr>
              <a:t>Algorithm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5E5455-C113-4E87-BC97-1E3BBA80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1907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E58E6F-B44C-4BC3-8FD7-3734DF45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257425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1316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101316"/>
                </a:solidFill>
                <a:latin typeface="PingFang SC"/>
                <a:ea typeface="PingFang SC"/>
                <a:cs typeface="PingFang SC"/>
              </a:rPr>
              <a:t>AllReduce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4ADA11-9217-4DD5-B199-AA93D53D0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907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A7B751-849E-48F1-8146-FEF4CA49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257425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1316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101316"/>
                </a:solidFill>
                <a:latin typeface="PingFang SC"/>
                <a:ea typeface="PingFang SC"/>
                <a:cs typeface="PingFang SC"/>
              </a:rPr>
              <a:t>Broadcast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849760-3D7D-44B4-9E07-C633DF9F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907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7DC50F-4511-4A9C-A91C-15BBFD39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257425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1316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101316"/>
                </a:solidFill>
                <a:latin typeface="PingFang SC"/>
                <a:ea typeface="PingFang SC"/>
                <a:cs typeface="PingFang SC"/>
              </a:rPr>
              <a:t>Reduce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CBD9E2-FC6B-4486-BB1B-3A8E3EBC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1907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14D7CF-DB3E-43CE-8649-8F2E920E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257425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1316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101316"/>
                </a:solidFill>
                <a:latin typeface="PingFang SC"/>
                <a:ea typeface="PingFang SC"/>
                <a:cs typeface="PingFang SC"/>
              </a:rPr>
              <a:t>ReduceScatter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01BA61-DD4F-4B40-B259-5FC42D11F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907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11C429-03BF-4F09-B0E3-D32F5616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257425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1316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101316"/>
                </a:solidFill>
                <a:latin typeface="PingFang SC"/>
                <a:ea typeface="PingFang SC"/>
                <a:cs typeface="PingFang SC"/>
              </a:rPr>
              <a:t>AllGather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FE4092-AC77-4B99-8447-694B874DE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DE680A-170B-4256-9711-EAC9D9B97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657475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Ring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A96C98-2C0B-43D7-A58C-B381D394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908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8B5D2E-AF1E-48EE-B7DA-8882AB48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657475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Simple/LL/LL128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438E42-0363-4179-9AD6-1CFBF05A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5908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9B9882-ED37-4359-BC8F-4A09EBA5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657475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Simple/LL/LL128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BA74AD-7115-4A7F-A984-A57FD18B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5908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32642F-891F-4006-9B7F-80F43FCC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657475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Simple/LL/LL128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B4443A-F992-4AD4-8F55-F14E25C1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908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653FCB-C7D2-43B1-AD6B-81CE87F5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657475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Simple/LL/LL128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A17011-9BA0-4032-B3C0-26EE7562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908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E24095-228A-49AF-821D-A67BB297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657475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Simple/LL/LL128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05E654-F0CC-4FC6-AEF2-2BCD0B3A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30CBDF-4057-47D8-A0ED-857B08C9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057525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Tree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EC09C6-E8F1-4265-9092-AF6A5B79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9908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F8B7EC-C32F-4084-8E30-015268CC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057525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Simple/LL/LL128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910150-495D-4E9B-ABE3-ACD00484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9908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3DB3CF7-FFF0-41F9-85E6-EC5772F5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057525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-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3FCB2B-BDC3-4283-AB0A-F42768AB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9908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44DD6B4-40EA-4E4B-8580-BE35CC4E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057525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-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70B13F7-2615-45F2-BB4E-E1D36A91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9908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CEE86A1-5A60-4CDA-BDB8-1493239C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057525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-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9B0DEA4-53F0-4430-B10E-625045E2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908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F5F048D-22F8-4FA9-A923-938A85B0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57525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-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B3BD52C-B808-4B04-92EB-E183EE5E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909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BD1E970-18DE-4F2A-9A17-499EBF82C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457575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CollNet Direct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40643A1-E8C1-42BF-8249-C36B949F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3909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1995C52-9C2F-452F-BD06-623840EB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457575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Simple only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D9D4CBB-519E-4E4B-AFCA-246317A6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3909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9BC1649-516E-499E-80C1-F1F524E4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457575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-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CB7261A-30D6-40F9-B80E-1E3030FF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3909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25FAA02-533E-4F27-AEDD-DA7E3758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457575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-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262706C-1585-4AAF-BAE6-EB7AF600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3909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59E5BEA-3229-4935-8E48-FD45A9A7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457575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-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17055E5-338C-4108-841D-99D1758F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909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CE147E2-F5ED-43FB-8E44-DD3EAC308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457575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-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76892FD-5AA7-4924-93CC-2EBE87E7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909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9402D70-EBCE-44E8-A461-303F3743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857625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CollNet Chain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7B58715-405B-4FD5-BAFD-DAFE76A2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7909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376A742-F0A5-4060-A35F-360A7650D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857625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Simple only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A1520FB-0D08-4CB5-8B1A-ED89C782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7909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45CB042-247D-4DAF-81CC-7780DAD4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57625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-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697DDF0-9B48-404C-A6F2-8E084D4B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7909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4FD8B54-70C3-4675-BE92-F2E509E7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857625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-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A4F25A3-F020-42A9-B27A-68938F57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7909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3A6E683-91C7-499D-BA0E-7C3D812B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857625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-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5EBB315-4A6C-4C29-AB64-CC061B40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7909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12DB06E-5D8F-493E-81FC-BDDF3DE0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857625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-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C8BFB53-4E88-4D24-964B-5DE5D0E2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9BEB1B3-09A3-4796-9763-2475DA13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257675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NVLS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760F6B6-7E9A-4CE5-AC94-F5B2E986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1910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BADE301-CEB1-4FB9-AF36-D06104D0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257675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Simple only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EE5BBA5-7C6E-4E56-86BC-178102B1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1910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ED0C3EB-B0C9-4EEA-9F91-F2667048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257675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-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72E64C1-4EC3-4A17-91EF-B9255ED2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1910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65E9BAD-51A7-4EA0-B141-AF3C09A4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257675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-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31B0564-C231-41DD-944A-241DACE7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1910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892711A-C1E3-4095-B66A-0B68CF9C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257675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Simple only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7808CFC-CB83-48E3-836A-2E8F9B84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1910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B061DA5-35A6-4588-B678-D988F8C4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257675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Simple only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89C0759-95BF-4BBE-AD28-B59B563C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47E2FAF-A296-4B75-987A-07E4634EF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657725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NVLS Tree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A942940-282C-49E1-9DC0-6B43E661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5910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4F43266-6143-46E4-BB76-680B9352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657725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Simple only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3D9E4CC-A9FD-4346-95AE-D4E341BC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5910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60B9E57-F6D6-4D86-8D60-EBE2B6F4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657725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-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468B48F-8717-417E-A6F5-9F4CB233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5910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8CF356E-6086-471B-B0E2-8A6B691A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657725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-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A37B32E-8D92-42BC-ADEF-79154D55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5910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F28BF88-B8F0-48C3-AA39-DDC7EABB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657725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-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7849CCA-7C21-4CD8-A8A7-7B5DC27E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5910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F0E8D14-47E4-40B8-BE6F-D54D16C32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657725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-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B45F3FD-C8CF-4008-906D-177681848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981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后续重点讲 Ring 和 Tree：它们不依赖特定 SHARP/NVSwitch 硬件，最能代表 NCCL 一般 collective 执行模型。</a:t>
            </a:r>
          </a:p>
        </p:txBody>
      </p:sp>
    </p:spTree>
    <p:extLst>
      <p:ext uri="{BB962C8B-B14F-4D97-AF65-F5344CB8AC3E}">
        <p14:creationId xmlns:p14="http://schemas.microsoft.com/office/powerpoint/2010/main" val="101848429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E278C7-BF19-47F5-A954-972E658B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EA9CD1-7BE4-40A3-B6DB-C0BCEADD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D9A980-2E83-49BB-A15C-FBFE68BC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FB7A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FB7A7"/>
                </a:solidFill>
                <a:latin typeface="Aptos"/>
                <a:ea typeface="Aptos"/>
                <a:cs typeface="Aptos"/>
              </a:rPr>
              <a:t>DEVICE PRIMITIVES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0B79FE-151C-4826-98B2-9B5AE08A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00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NCCL collective 是由少数 GPU primitive 拼出来的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A7FC56-F93B-4DAC-A4B6-5FA963C8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914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primitive 名字编码了操作顺序：recv、reduce、copy、send。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910590-26ED-4635-BC8D-648DFED8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27B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27B70"/>
                </a:solidFill>
                <a:latin typeface="Aptos"/>
                <a:ea typeface="Aptos"/>
                <a:cs typeface="Aptos"/>
              </a:rPr>
              <a:t>Source: Demystifying NCCL, arXiv 2507.04786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847A32-37C7-4DD5-AEE4-4777D091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27B7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27B70"/>
                </a:solidFill>
                <a:latin typeface="Aptos Mono"/>
                <a:ea typeface="Aptos Mono"/>
                <a:cs typeface="Aptos Mono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FBEEC7-8412-4B9E-AF82-62762505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B27D4C-1A40-48E1-A6C3-A39B5E5C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238375"/>
            <a:ext cx="203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131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1316"/>
                </a:solidFill>
                <a:latin typeface="Aptos"/>
                <a:ea typeface="Aptos"/>
                <a:cs typeface="Aptos"/>
              </a:rPr>
              <a:t>Primitive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B2D35D-7555-421E-9BF9-5C1ECBD6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71700"/>
            <a:ext cx="742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1332E3-2811-46B0-B579-08F71D2A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238375"/>
            <a:ext cx="7277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1316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101316"/>
                </a:solidFill>
                <a:latin typeface="PingFang SC"/>
                <a:ea typeface="PingFang SC"/>
                <a:cs typeface="PingFang SC"/>
              </a:rPr>
              <a:t>Meaning in one loop step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5F460F-3437-4354-A786-E61ACEE0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5316FB-EB19-4BE9-9E72-9248943E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752725"/>
            <a:ext cx="203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send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E29C9B-6CEF-4F82-8859-8FBA64F1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86050"/>
            <a:ext cx="742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D5BBCF-BAAB-45AB-9ECE-2EB6963A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752725"/>
            <a:ext cx="7277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把当前 chunk 发给下一个 peer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4CD357-FC64-43E2-A8CF-0B4ED48D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A86B9E-8580-4249-BC39-C3F71124C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267075"/>
            <a:ext cx="203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recv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29290E-C18F-4F5C-9336-2D64EB93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00400"/>
            <a:ext cx="742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1A2A83-4BD4-46C6-9F99-B93E8CAC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267075"/>
            <a:ext cx="7277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从前一个 peer 接收 chunk，通常是最后一步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2E9E2D-3CF9-4504-A5B5-8A89CD03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E09D4D-CA4D-403F-9F96-0A7853E9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781425"/>
            <a:ext cx="203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recvReduceSend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C814D9-530C-4A45-8DC3-0E70FA0A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14750"/>
            <a:ext cx="742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34F2A2-504D-4D40-9545-B975E725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781425"/>
            <a:ext cx="7277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接收 partial chunk，与本地 buffer 做 element-wise reduction，再发出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D232D2-12A5-4748-9C8A-A9A5B892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A47375-80D9-4D7D-87CE-9EC00FCE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295775"/>
            <a:ext cx="203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recvCopySend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CD9B86-7B80-438F-9BA4-D424B752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29100"/>
            <a:ext cx="742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35C9EB-BE04-43BF-AF0F-B774065A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295775"/>
            <a:ext cx="7277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接收已完成 chunk，copy 到输出位置，再转发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19E505-3A8E-49FE-BA12-61FB78F2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434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619193-E0FE-4F1A-8D3F-79F6394B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810125"/>
            <a:ext cx="203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recvReduceCopySend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9B2DB2-9AD2-4691-8207-60D540A7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43450"/>
            <a:ext cx="742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093A5F-4BFA-49A8-815F-2541786F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810125"/>
            <a:ext cx="7277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接收、规约、copy 到输出，并继续 send；Tree root / Ring final reduce 常见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1A3340-DC1C-482D-91E1-E6CB74F6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990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协议决定同步方式和 buffer 粒度，algorithm 决定 primitive 序列；channel/slot/loop 决定这些 primitive 如何并发执行。</a:t>
            </a:r>
          </a:p>
        </p:txBody>
      </p:sp>
    </p:spTree>
    <p:extLst>
      <p:ext uri="{BB962C8B-B14F-4D97-AF65-F5344CB8AC3E}">
        <p14:creationId xmlns:p14="http://schemas.microsoft.com/office/powerpoint/2010/main" val="185138290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9902F1-B089-4FDD-82BB-EEC6E434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70136A-8755-41BF-8E2E-F866F8BC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81BB2D-FEB0-4567-B97B-F3C90A91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FB7A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FB7A7"/>
                </a:solidFill>
                <a:latin typeface="Aptos"/>
                <a:ea typeface="Aptos"/>
                <a:cs typeface="Aptos"/>
              </a:rPr>
              <a:t>RING ALLREDUCE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432A23-27B6-4F29-B699-D301C519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00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Ring 算法直接用论文 Fig.4：ReduceScatter + AllGather 的每一步都画全了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05F20D-ABAF-4AA1-A0CD-158365A7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914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这是原图比自绘更好的地方：它同时展示 topology、每步 primitive、partial sum 如何沿 ring 流动。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526016-9904-42D7-9244-E41C900C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27B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27B70"/>
                </a:solidFill>
                <a:latin typeface="Aptos"/>
                <a:ea typeface="Aptos"/>
                <a:cs typeface="Aptos"/>
              </a:rPr>
              <a:t>Source: Demystifying NCCL, arXiv 2507.04786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92D197-AC67-4854-8F93-548C727E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27B7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27B70"/>
                </a:solidFill>
                <a:latin typeface="Aptos Mono"/>
                <a:ea typeface="Aptos Mono"/>
                <a:cs typeface="Aptos Mono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D8CAC8-51FC-4866-8952-AD3F4522C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57400"/>
            <a:ext cx="11287125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59af7778944e60"/>
          <a:stretch xmlns:a="http://schemas.openxmlformats.org/drawingml/2006/main"/>
        </p:blipFill>
        <p:spPr>
          <a:xfrm xmlns:a="http://schemas.openxmlformats.org/drawingml/2006/main">
            <a:off x="2607404" y="2152650"/>
            <a:ext cx="6986716" cy="32861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2C022B-5884-43BB-8FC0-76C1853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57850"/>
            <a:ext cx="304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E5FE82-0D1E-4A34-B755-E037BB7C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5785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5B4779-2F05-4833-8FEB-71521A16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81675"/>
            <a:ext cx="2781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ReduceScatter half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EBDBC3-7D47-4B5B-9693-0F8DF81E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057900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step 0 send；1..k-2 recvReduceSend；k-1 recvReduceCopySend。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B3EE6E-0048-44F8-BA63-4F2DA2C3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657850"/>
            <a:ext cx="304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E89745-A40C-4E64-A25B-BC0FD45D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65785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7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64CB30-187A-453C-91F3-58101778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781675"/>
            <a:ext cx="2781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AllGather half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5B7437-6A9C-4BE5-A8FA-8DC03E69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057900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fully reduced segment 继续沿 ring 传播；recvCopySend，最后 recv。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003612-CF77-4FB8-A76B-1327D8CD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657850"/>
            <a:ext cx="304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71B40E-0FD7-4737-B57C-CFB2F721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65785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44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7BD686-88D0-4AAA-9E15-1DFC98FE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81675"/>
            <a:ext cx="2781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Performance shape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9D9172-C9D5-4E36-8581-A5400A5C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57900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偏带宽，适合大消息；step 数随 k 增加，小消息延迟不占优。</a:t>
            </a:r>
          </a:p>
        </p:txBody>
      </p:sp>
    </p:spTree>
    <p:extLst>
      <p:ext uri="{BB962C8B-B14F-4D97-AF65-F5344CB8AC3E}">
        <p14:creationId xmlns:p14="http://schemas.microsoft.com/office/powerpoint/2010/main" val="193226656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58DE84-16D1-4504-BB9A-A6D09435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5D156A-45F7-4281-A9E9-A9637909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0D7853-EF8F-4BF0-A9EB-AA0F81B3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FB7A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FB7A7"/>
                </a:solidFill>
                <a:latin typeface="Aptos"/>
                <a:ea typeface="Aptos"/>
                <a:cs typeface="Aptos"/>
              </a:rPr>
              <a:t>RING VARIANTS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8355B1-D702-41FF-92D4-6A8BA45F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00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AllGather 和 ReduceScatter 是 Ring AllReduce 的两个半边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C2AC69-121A-4760-A7B0-2F6893FB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914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训练系统常直接调用 ReduceScatter / AllGather，所以论文也单独列了它们的 step 表。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20C38F-9513-4FA6-8A46-0C565EB4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27B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27B70"/>
                </a:solidFill>
                <a:latin typeface="Aptos"/>
                <a:ea typeface="Aptos"/>
                <a:cs typeface="Aptos"/>
              </a:rPr>
              <a:t>Source: Demystifying NCCL, arXiv 2507.04786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78957A-8A17-4E5F-9C91-E4133BED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27B7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27B70"/>
                </a:solidFill>
                <a:latin typeface="Aptos Mono"/>
                <a:ea typeface="Aptos Mono"/>
                <a:cs typeface="Aptos Mono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43144F-D805-4BC6-96DC-FBCEB9CD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81250"/>
            <a:ext cx="44767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E00684-4296-4C97-9C25-1F2901CD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81250"/>
            <a:ext cx="47625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7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890678-EA30-4D86-97F5-295DD3FD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505075"/>
            <a:ext cx="421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Ring AllGather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4993D3-D950-44FB-9A75-DFAFE7CE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781300"/>
            <a:ext cx="4210050" cy="1685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目标：每个 GPU 收集所有 rank 的 data block。</a:t>
            </a:r>
          </a:p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Step 0：in-place send 或 copySend</a:t>
            </a:r>
          </a:p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Step 1..k-2：recvCopySend</a:t>
            </a:r>
          </a:p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Final：recv</a:t>
            </a:r>
          </a:p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结果：所有 GPU 得到完整 ordered copy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87F9FC-89C5-4CC0-BD27-694D288C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381250"/>
            <a:ext cx="44767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625AEA-8D67-4004-A20F-FE08B47D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381250"/>
            <a:ext cx="47625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D92806-03A7-49A3-B05C-5B5E53A1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505075"/>
            <a:ext cx="421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Ring ReduceScatter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50D85D-94D6-4123-8444-27568E2D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781300"/>
            <a:ext cx="4210050" cy="1685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目标：先规约所有 GPU 的 block，再把不同 segment 分给各 GPU。</a:t>
            </a:r>
          </a:p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Step 0：send</a:t>
            </a:r>
          </a:p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Step 1..k-2：recvReduceSend</a:t>
            </a:r>
          </a:p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Final：recvReduceCopy</a:t>
            </a:r>
          </a:p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结果：每个 GPU 得到一个 fully reduced segment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342D37-4198-4D1C-B910-06DC749F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5780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实现粒度：NCCL 不是直接移动“整个 tensor”，而是在 channel / loop / chunk / slot 层级反复执行这些 primitive。理解这一点才能解释 pipeline、overlap 和模拟器建模。</a:t>
            </a:r>
          </a:p>
        </p:txBody>
      </p:sp>
    </p:spTree>
    <p:extLst>
      <p:ext uri="{BB962C8B-B14F-4D97-AF65-F5344CB8AC3E}">
        <p14:creationId xmlns:p14="http://schemas.microsoft.com/office/powerpoint/2010/main" val="207922273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76481A-7A0B-412D-9C81-FE54A1C6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B46874-5229-45A6-BA55-038DED774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70EB0F-3733-40FB-86B2-0DA72279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FB7A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FB7A7"/>
                </a:solidFill>
                <a:latin typeface="Aptos"/>
                <a:ea typeface="Aptos"/>
                <a:cs typeface="Aptos"/>
              </a:rPr>
              <a:t>TREE ALLREDUCE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EBBBDA-6CB7-448A-BBF7-17603DB5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00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Tree 算法也直接用论文 Fig.5：Reduce 阶段与 Broadcast 阶段的依赖更直观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7DC222-91A7-4B90-B278-6591654E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914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Tree 改变依赖深度，通常更适合小消息；NCCL 还可能把 SM 分成两组并发执行 reduce/broadcast。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54D109-C2D1-470F-83CF-17D46215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27B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27B70"/>
                </a:solidFill>
                <a:latin typeface="Aptos"/>
                <a:ea typeface="Aptos"/>
                <a:cs typeface="Aptos"/>
              </a:rPr>
              <a:t>Source: Demystifying NCCL, arXiv 2507.04786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92B0FC-6F5A-4276-95E3-307405D9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27B7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27B70"/>
                </a:solidFill>
                <a:latin typeface="Aptos Mono"/>
                <a:ea typeface="Aptos Mono"/>
                <a:cs typeface="Aptos Mono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292D76-9D10-47E6-80C5-D89424AD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0250"/>
            <a:ext cx="99536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37593a388443f8"/>
          <a:stretch xmlns:a="http://schemas.openxmlformats.org/drawingml/2006/main"/>
        </p:blipFill>
        <p:spPr>
          <a:xfrm xmlns:a="http://schemas.openxmlformats.org/drawingml/2006/main">
            <a:off x="2019300" y="2114550"/>
            <a:ext cx="7143750" cy="3143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796883-7F74-41F6-91E9-7A154108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57850"/>
            <a:ext cx="2762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E52BB9-5527-4174-8562-5D9C26B0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5785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4846F7-9C6E-4D0F-A66B-1FEEEC92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781675"/>
            <a:ext cx="2495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Root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1F22CD-CA24-426C-B25C-84022EE4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057900"/>
            <a:ext cx="2495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recvReduceCopySend：聚合最终 sum，并开始向下广播。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42E9CF-61E2-4654-A45B-B776A442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65785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A7D385-7494-4737-8F98-04F34E332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65785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7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8B66A4-7F9E-4FDE-AD24-A060612EE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781675"/>
            <a:ext cx="2876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Middle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1C29A0-70CD-44B4-ABAC-602EC3179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6057900"/>
            <a:ext cx="2876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recvReduceSend 后接 recvCopySend，先向上规约再向下转发。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BDC575-E622-4269-A772-193FA00A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65785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B216B3-5D50-410A-85DF-686A30AF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65785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44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785443-B9D9-4B33-908D-91E3C430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781675"/>
            <a:ext cx="2305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Leaf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DD40F3-35A9-4C67-9151-045B6903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057900"/>
            <a:ext cx="2305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send then recv：先贡献本地 data，再接收最终结果。</a:t>
            </a:r>
          </a:p>
        </p:txBody>
      </p:sp>
    </p:spTree>
    <p:extLst>
      <p:ext uri="{BB962C8B-B14F-4D97-AF65-F5344CB8AC3E}">
        <p14:creationId xmlns:p14="http://schemas.microsoft.com/office/powerpoint/2010/main" val="113361115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6DF247-CD6A-45E3-8B43-DB3186F8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5A22F3-1A80-426B-9B70-85FAA7F9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0753E6-E426-4644-8D4D-A53989C1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FB7A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FB7A7"/>
                </a:solidFill>
                <a:latin typeface="Aptos"/>
                <a:ea typeface="Aptos"/>
                <a:cs typeface="Aptos"/>
              </a:rPr>
              <a:t>BENCHMARK FIGURE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5E6067-A9EE-433E-A93B-D7F565AF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00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保留论文 Fig.6：一页看清协议与拓扑的 benchmark 结论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85AFC3-90EA-4D3B-8360-DADA2B85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914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这张图的关键不是精确读每个点，而是看趋势如何对应前面的机制。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893789-9F5A-468C-8F55-3579BC32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27B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27B70"/>
                </a:solidFill>
                <a:latin typeface="Aptos"/>
                <a:ea typeface="Aptos"/>
                <a:cs typeface="Aptos"/>
              </a:rPr>
              <a:t>Source: Demystifying NCCL, arXiv 2507.04786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C9F6A8-F287-4BAE-ADB8-C89A2A30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27B7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27B70"/>
                </a:solidFill>
                <a:latin typeface="Aptos Mono"/>
                <a:ea typeface="Aptos Mono"/>
                <a:cs typeface="Aptos Mono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DC2439-0FBB-4B6D-8944-4ABF991B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10096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2ae6c7115d4059"/>
          <a:stretch xmlns:a="http://schemas.openxmlformats.org/drawingml/2006/main"/>
        </p:blipFill>
        <p:spPr>
          <a:xfrm xmlns:a="http://schemas.openxmlformats.org/drawingml/2006/main">
            <a:off x="2141764" y="2266950"/>
            <a:ext cx="7184571" cy="3143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67C247-BCF8-442F-B0AA-526C9825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829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44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20AFC5-DE3E-4491-AD6B-3084967A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7721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Inter-node small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47376E-CF62-452E-AC9B-5FA37B845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991225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LL/LL128 延迟低，小消息占优。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FB8EF1-AFB6-423F-8B41-257B25F9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829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85FE56-4811-42A5-A3E7-317B7262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7721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Inter-node large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936CB1-65B2-4D35-9C75-4C6DA2C4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991225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Simple 同步事件少，大消息占优。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DF3DEF-1F85-4372-AE80-84458923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829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7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B1EA4F-4351-47B1-A2D8-D2BDB373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7721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Intra-node NVLink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0ED240-FCA0-46DF-B8E2-E39B7280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991225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LL128 表现稳定，能利用 NVLink。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CE89F3-13E5-4443-A6BE-770B8139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829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A6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5CFC2D-8021-4E9E-A150-654266F8F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7721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Algorithm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38A458-11BA-4929-9C91-DFC802D3E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991225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Ring 大消息；Tree 小消息。</a:t>
            </a:r>
          </a:p>
        </p:txBody>
      </p:sp>
    </p:spTree>
    <p:extLst>
      <p:ext uri="{BB962C8B-B14F-4D97-AF65-F5344CB8AC3E}">
        <p14:creationId xmlns:p14="http://schemas.microsoft.com/office/powerpoint/2010/main" val="1714110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67C3B0-F0EE-4655-AA74-D2FEFAAD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8B1D2E-F4C2-4868-A392-931FFD02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B80B89-0F58-4F0C-96E4-933B1D7F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FB7A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FB7A7"/>
                </a:solidFill>
                <a:latin typeface="Aptos"/>
                <a:ea typeface="Aptos"/>
                <a:cs typeface="Aptos"/>
              </a:rPr>
              <a:t>ATLAHS AND OPTIMIZATION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AC5DAC-16CC-4DDA-BE22-98DC716C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00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论文最后的实用价值：把 NCCL 黑盒变成可建模的 schedule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65D90E-204C-4E6C-BCD9-7D454902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914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ATLAHS 能低误差模拟 NCCL 通信，靠的是 channel、primitive、pipeline、protocol 级别分解。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76F7C3-CC9F-4A6E-B3EB-F78DA7E4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27B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27B70"/>
                </a:solidFill>
                <a:latin typeface="Aptos"/>
                <a:ea typeface="Aptos"/>
                <a:cs typeface="Aptos"/>
              </a:rPr>
              <a:t>Source: Demystifying NCCL, arXiv 2507.04786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921664-C413-499D-B83E-BBFF4ADA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27B7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27B70"/>
                </a:solidFill>
                <a:latin typeface="Aptos Mono"/>
                <a:ea typeface="Aptos Mono"/>
                <a:cs typeface="Aptos Mono"/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C11853-5127-4FC8-8797-BCCEEA5D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20955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8FD512-44E6-43D8-9E24-A37CCFD7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47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DF83E3-62EB-4413-AC2D-A009CCBF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0325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Trace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F9AA5B-D1D9-4BDA-9609-67F8B13D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76550"/>
            <a:ext cx="18288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collective call、rank、message size、topology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F04B37-F04C-4F01-BE70-B0745691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76500"/>
            <a:ext cx="20955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983097-649B-49AB-A8BD-C937DC8F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76500"/>
            <a:ext cx="47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44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34A1FB-A6B8-4FDA-9B31-09C8BE0F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00325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Decompose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D96E91-6FC8-4A0F-B1FB-D13E6ED4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76550"/>
            <a:ext cx="18288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channel / loop / chunk / slot</a:t>
            </a:r>
          </a:p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primitive sequence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A78712-8563-4A43-9F31-F03324FB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76500"/>
            <a:ext cx="20955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578B9D-748F-4E0D-872B-5DA3CE18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76500"/>
            <a:ext cx="47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7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23F5AF-8263-42B2-9B55-ACEC0B91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00325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Schedule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94606C-1ABD-4B99-86D0-A62CE8E6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76550"/>
            <a:ext cx="18288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GOAL schedule</a:t>
            </a:r>
          </a:p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保留依赖、并发、overlap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44F71D-62B2-4761-A9EE-F5C1A215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76500"/>
            <a:ext cx="20955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F0F558-D7E3-4BED-BDB9-F7CD0AAC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76500"/>
            <a:ext cx="47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5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4B9530-1E12-40BE-8333-A6AB0FC4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00325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Simulate / optimize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3EC247-986E-4AE7-9FF5-106C7649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76550"/>
            <a:ext cx="18288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定位瓶颈：protocol、transport、QP、Ring/Tree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7A91B4-9405-4ADC-8747-25390536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6705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24B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E83C43-51AE-43BD-86E3-ABA2DC5F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06705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24B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394B37-AD92-4CF4-ADEE-9A0BBDE7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24B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F3A7D2-0BCD-487C-AE69-09C7CC10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57750"/>
            <a:ext cx="904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90500" tIns="114300" rIns="190500" bIns="1143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31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1316"/>
                </a:solidFill>
                <a:latin typeface="PingFang SC"/>
                <a:ea typeface="PingFang SC"/>
                <a:cs typeface="PingFang SC"/>
              </a:rPr>
              <a:t>排查 NCCL 性能时，先定位层级：消息大小？是否跨节点？GDRDMA 是否生效？channel 是否合适？Ring/Tree 的依赖形状是否匹配？</a:t>
            </a:r>
          </a:p>
        </p:txBody>
      </p:sp>
    </p:spTree>
    <p:extLst>
      <p:ext uri="{BB962C8B-B14F-4D97-AF65-F5344CB8AC3E}">
        <p14:creationId xmlns:p14="http://schemas.microsoft.com/office/powerpoint/2010/main" val="19382946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2026-05-12T08:44:02.2460000Z</dcterms:created>
  <dcterms:modified xsi:type="dcterms:W3CDTF">2026-05-12T08:44:02.2460000Z</dcterms:modified>
</coreProperties>
</file>
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e5de928c02427f" /><Relationship Type="http://schemas.openxmlformats.org/officeDocument/2006/relationships/extended-properties" Target="/docProps/app.xml" Id="R7d1d51991fb14477" /><Relationship Type="http://schemas.openxmlformats.org/officeDocument/2006/relationships/officeDocument" Target="/ppt/presentation.xml" Id="R1ba7cf8b5c7a48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0244acf6974ec4"/>
  </p:sldMasterIdLst>
  <p:notesMasterIdLst>
    <p:notesMasterId xmlns:r="http://schemas.openxmlformats.org/officeDocument/2006/relationships" r:id="R12bc15bae2524821"/>
  </p:notesMasterIdLst>
  <p:sldIdLst>
    <p:sldId xmlns:r="http://schemas.openxmlformats.org/officeDocument/2006/relationships" id="256" r:id="R2ee5634b7e78445d"/>
    <p:sldId xmlns:r="http://schemas.openxmlformats.org/officeDocument/2006/relationships" id="257" r:id="R61eae251d03d42ab"/>
    <p:sldId xmlns:r="http://schemas.openxmlformats.org/officeDocument/2006/relationships" id="258" r:id="Reeb390934f184b64"/>
    <p:sldId xmlns:r="http://schemas.openxmlformats.org/officeDocument/2006/relationships" id="259" r:id="R89af305b402b4ff2"/>
    <p:sldId xmlns:r="http://schemas.openxmlformats.org/officeDocument/2006/relationships" id="260" r:id="R982f65c515df432b"/>
    <p:sldId xmlns:r="http://schemas.openxmlformats.org/officeDocument/2006/relationships" id="261" r:id="R045f83df07724a6c"/>
    <p:sldId xmlns:r="http://schemas.openxmlformats.org/officeDocument/2006/relationships" id="262" r:id="R0d336a293eb34859"/>
    <p:sldId xmlns:r="http://schemas.openxmlformats.org/officeDocument/2006/relationships" id="263" r:id="R20a1fc554ca44f55"/>
    <p:sldId xmlns:r="http://schemas.openxmlformats.org/officeDocument/2006/relationships" id="264" r:id="R193a25e1da3e4f5d"/>
    <p:sldId xmlns:r="http://schemas.openxmlformats.org/officeDocument/2006/relationships" id="265" r:id="R66f54486f09b4f54"/>
    <p:sldId xmlns:r="http://schemas.openxmlformats.org/officeDocument/2006/relationships" id="266" r:id="R8c84f348c93747a0"/>
    <p:sldId xmlns:r="http://schemas.openxmlformats.org/officeDocument/2006/relationships" id="267" r:id="R0d85b910e18f4387"/>
    <p:sldId xmlns:r="http://schemas.openxmlformats.org/officeDocument/2006/relationships" id="268" r:id="R443a4f616a85414d"/>
    <p:sldId xmlns:r="http://schemas.openxmlformats.org/officeDocument/2006/relationships" id="269" r:id="R9a6b7c98af104d08"/>
    <p:sldId xmlns:r="http://schemas.openxmlformats.org/officeDocument/2006/relationships" id="270" r:id="Raa461b9ce4af4d76"/>
    <p:sldId xmlns:r="http://schemas.openxmlformats.org/officeDocument/2006/relationships" id="271" r:id="R81e4972798b6487a"/>
    <p:sldId xmlns:r="http://schemas.openxmlformats.org/officeDocument/2006/relationships" id="272" r:id="Re4a49e3a068944a1"/>
    <p:sldId xmlns:r="http://schemas.openxmlformats.org/officeDocument/2006/relationships" id="273" r:id="Rc816314652b2489c"/>
    <p:sldId xmlns:r="http://schemas.openxmlformats.org/officeDocument/2006/relationships" id="274" r:id="R315e1fcc452a44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244acf6974ec4" /><Relationship Type="http://schemas.openxmlformats.org/officeDocument/2006/relationships/theme" Target="/ppt/theme/theme1.xml" Id="R0dce0f8475c94853" /><Relationship Type="http://schemas.openxmlformats.org/officeDocument/2006/relationships/notesMaster" Target="/ppt/notesMasters/notesMaster1.xml" Id="R12bc15bae2524821" /><Relationship Type="http://schemas.openxmlformats.org/officeDocument/2006/relationships/presProps" Target="/ppt/presProps.xml" Id="Rdfa4ac631e3d4f92" /><Relationship Type="http://schemas.openxmlformats.org/officeDocument/2006/relationships/viewProps" Target="/ppt/viewProps.xml" Id="R50f80972b99040f3" /><Relationship Type="http://schemas.openxmlformats.org/officeDocument/2006/relationships/tableStyles" Target="/ppt/tableStyles.xml" Id="Re41d4b1661134ca1" /><Relationship Type="http://schemas.openxmlformats.org/officeDocument/2006/relationships/slide" Target="/ppt/slides/slide1.xml" Id="R2ee5634b7e78445d" /><Relationship Type="http://schemas.openxmlformats.org/officeDocument/2006/relationships/slide" Target="/ppt/slides/slide2.xml" Id="R61eae251d03d42ab" /><Relationship Type="http://schemas.openxmlformats.org/officeDocument/2006/relationships/slide" Target="/ppt/slides/slide3.xml" Id="Reeb390934f184b64" /><Relationship Type="http://schemas.openxmlformats.org/officeDocument/2006/relationships/slide" Target="/ppt/slides/slide4.xml" Id="R89af305b402b4ff2" /><Relationship Type="http://schemas.openxmlformats.org/officeDocument/2006/relationships/slide" Target="/ppt/slides/slide5.xml" Id="R982f65c515df432b" /><Relationship Type="http://schemas.openxmlformats.org/officeDocument/2006/relationships/slide" Target="/ppt/slides/slide6.xml" Id="R045f83df07724a6c" /><Relationship Type="http://schemas.openxmlformats.org/officeDocument/2006/relationships/slide" Target="/ppt/slides/slide7.xml" Id="R0d336a293eb34859" /><Relationship Type="http://schemas.openxmlformats.org/officeDocument/2006/relationships/slide" Target="/ppt/slides/slide8.xml" Id="R20a1fc554ca44f55" /><Relationship Type="http://schemas.openxmlformats.org/officeDocument/2006/relationships/slide" Target="/ppt/slides/slide9.xml" Id="R193a25e1da3e4f5d" /><Relationship Type="http://schemas.openxmlformats.org/officeDocument/2006/relationships/slide" Target="/ppt/slides/slide10.xml" Id="R66f54486f09b4f54" /><Relationship Type="http://schemas.openxmlformats.org/officeDocument/2006/relationships/slide" Target="/ppt/slides/slide11.xml" Id="R8c84f348c93747a0" /><Relationship Type="http://schemas.openxmlformats.org/officeDocument/2006/relationships/slide" Target="/ppt/slides/slide12.xml" Id="R0d85b910e18f4387" /><Relationship Type="http://schemas.openxmlformats.org/officeDocument/2006/relationships/slide" Target="/ppt/slides/slide13.xml" Id="R443a4f616a85414d" /><Relationship Type="http://schemas.openxmlformats.org/officeDocument/2006/relationships/slide" Target="/ppt/slides/slide14.xml" Id="R9a6b7c98af104d08" /><Relationship Type="http://schemas.openxmlformats.org/officeDocument/2006/relationships/slide" Target="/ppt/slides/slide15.xml" Id="Raa461b9ce4af4d76" /><Relationship Type="http://schemas.openxmlformats.org/officeDocument/2006/relationships/slide" Target="/ppt/slides/slide16.xml" Id="R81e4972798b6487a" /><Relationship Type="http://schemas.openxmlformats.org/officeDocument/2006/relationships/slide" Target="/ppt/slides/slide17.xml" Id="Re4a49e3a068944a1" /><Relationship Type="http://schemas.openxmlformats.org/officeDocument/2006/relationships/slide" Target="/ppt/slides/slide18.xml" Id="Rc816314652b2489c" /><Relationship Type="http://schemas.openxmlformats.org/officeDocument/2006/relationships/slide" Target="/ppt/slides/slide19.xml" Id="R315e1fcc452a44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56aaf02e64442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d2d06f32a14ec0" /><Relationship Type="http://schemas.openxmlformats.org/officeDocument/2006/relationships/notesMaster" Target="/ppt/notesMasters/notesMaster1.xml" Id="R6d0427e3601842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75f43a76094fa5" /><Relationship Type="http://schemas.openxmlformats.org/officeDocument/2006/relationships/notesMaster" Target="/ppt/notesMasters/notesMaster1.xml" Id="R2b15d82eb8d74d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6dc578c7674bb5" /><Relationship Type="http://schemas.openxmlformats.org/officeDocument/2006/relationships/notesMaster" Target="/ppt/notesMasters/notesMaster1.xml" Id="Re74ab6322e3e4c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cbea4031f84336" /><Relationship Type="http://schemas.openxmlformats.org/officeDocument/2006/relationships/notesMaster" Target="/ppt/notesMasters/notesMaster1.xml" Id="R2a2c3d7264a04c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ed74847a94472c" /><Relationship Type="http://schemas.openxmlformats.org/officeDocument/2006/relationships/notesMaster" Target="/ppt/notesMasters/notesMaster1.xml" Id="R7faec3b155e04d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55a2aaf6764e30" /><Relationship Type="http://schemas.openxmlformats.org/officeDocument/2006/relationships/notesMaster" Target="/ppt/notesMasters/notesMaster1.xml" Id="R90408ac9af6f4f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ca4e7287324bed" /><Relationship Type="http://schemas.openxmlformats.org/officeDocument/2006/relationships/notesMaster" Target="/ppt/notesMasters/notesMaster1.xml" Id="R2f5b90899c4f4d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a15caddeb646b4" /><Relationship Type="http://schemas.openxmlformats.org/officeDocument/2006/relationships/notesMaster" Target="/ppt/notesMasters/notesMaster1.xml" Id="R0321e425769d40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1274c496124197" /><Relationship Type="http://schemas.openxmlformats.org/officeDocument/2006/relationships/notesMaster" Target="/ppt/notesMasters/notesMaster1.xml" Id="Rdadb9f8649ba48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079b6ad8414c11" /><Relationship Type="http://schemas.openxmlformats.org/officeDocument/2006/relationships/notesMaster" Target="/ppt/notesMasters/notesMaster1.xml" Id="R13b00bb1739944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3b2029f55b4ed1" /><Relationship Type="http://schemas.openxmlformats.org/officeDocument/2006/relationships/notesMaster" Target="/ppt/notesMasters/notesMaster1.xml" Id="R03c3d89b51b444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049ec2242147ed" /><Relationship Type="http://schemas.openxmlformats.org/officeDocument/2006/relationships/notesMaster" Target="/ppt/notesMasters/notesMaster1.xml" Id="R611a162023d340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00952043124508" /><Relationship Type="http://schemas.openxmlformats.org/officeDocument/2006/relationships/notesMaster" Target="/ppt/notesMasters/notesMaster1.xml" Id="Ra302c9e3907e44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b089465be948bd" /><Relationship Type="http://schemas.openxmlformats.org/officeDocument/2006/relationships/notesMaster" Target="/ppt/notesMasters/notesMaster1.xml" Id="R53d8468ecacd48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5f104a89aa4847" /><Relationship Type="http://schemas.openxmlformats.org/officeDocument/2006/relationships/notesMaster" Target="/ppt/notesMasters/notesMaster1.xml" Id="R0586673f9a3549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90a0bda2c24a54" /><Relationship Type="http://schemas.openxmlformats.org/officeDocument/2006/relationships/notesMaster" Target="/ppt/notesMasters/notesMaster1.xml" Id="Rd9d7a72a0dd449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4e752d886e4029" /><Relationship Type="http://schemas.openxmlformats.org/officeDocument/2006/relationships/notesMaster" Target="/ppt/notesMasters/notesMaster1.xml" Id="Re6dea266ae1f44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4af9ea59db4d1d" /><Relationship Type="http://schemas.openxmlformats.org/officeDocument/2006/relationships/notesMaster" Target="/ppt/notesMasters/notesMaster1.xml" Id="R4ae68070dcb04b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54169bbf564491" /><Relationship Type="http://schemas.openxmlformats.org/officeDocument/2006/relationships/notesMaster" Target="/ppt/notesMasters/notesMaster1.xml" Id="R03ed647fe12a46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ad75d39df4a2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00b02b5e4074970" /><Relationship Type="http://schemas.openxmlformats.org/officeDocument/2006/relationships/slideLayout" Target="/ppt/slideLayouts/slideLayout2.xml" Id="R1cb764f354f24b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b764f354f24b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eff09a125d4f35" /><Relationship Type="http://schemas.openxmlformats.org/officeDocument/2006/relationships/notesSlide" Target="/ppt/notesSlides/notesSlide1.xml" Id="R7b35e89f36454b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5ec3a1fc7d4ef2" /><Relationship Type="http://schemas.openxmlformats.org/officeDocument/2006/relationships/notesSlide" Target="/ppt/notesSlides/notesSlide2.xml" Id="Rec19ab49c24447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650c99df734caa" /><Relationship Type="http://schemas.openxmlformats.org/officeDocument/2006/relationships/notesSlide" Target="/ppt/notesSlides/notesSlide3.xml" Id="Ra2608fdbfc564c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d964effccf450e" /><Relationship Type="http://schemas.openxmlformats.org/officeDocument/2006/relationships/notesSlide" Target="/ppt/notesSlides/notesSlide4.xml" Id="Rbf8714dc60b440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7bd4b87cda4f43" /><Relationship Type="http://schemas.openxmlformats.org/officeDocument/2006/relationships/notesSlide" Target="/ppt/notesSlides/notesSlide5.xml" Id="Rf69c828c2c844c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78e474407c40df" /><Relationship Type="http://schemas.openxmlformats.org/officeDocument/2006/relationships/notesSlide" Target="/ppt/notesSlides/notesSlide6.xml" Id="Rfe171f1151ff4d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f0d70978ff43c8" /><Relationship Type="http://schemas.openxmlformats.org/officeDocument/2006/relationships/notesSlide" Target="/ppt/notesSlides/notesSlide7.xml" Id="Rf453feea6a7d48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84224571774577" /><Relationship Type="http://schemas.openxmlformats.org/officeDocument/2006/relationships/notesSlide" Target="/ppt/notesSlides/notesSlide8.xml" Id="Rfcef50e4de5c4c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6df68b3d1142f3" /><Relationship Type="http://schemas.openxmlformats.org/officeDocument/2006/relationships/notesSlide" Target="/ppt/notesSlides/notesSlide9.xml" Id="R347f0613bbbb4f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a1235d4d8d448e" /><Relationship Type="http://schemas.openxmlformats.org/officeDocument/2006/relationships/notesSlide" Target="/ppt/notesSlides/notesSlide10.xml" Id="R1d562f7ec7a743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e49bd7a2bf4347" /><Relationship Type="http://schemas.openxmlformats.org/officeDocument/2006/relationships/notesSlide" Target="/ppt/notesSlides/notesSlide11.xml" Id="Rc7978de4016541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a402a68c284a40" /><Relationship Type="http://schemas.openxmlformats.org/officeDocument/2006/relationships/notesSlide" Target="/ppt/notesSlides/notesSlide12.xml" Id="Rf288d837ef1940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fff85ee2ff476a" /><Relationship Type="http://schemas.openxmlformats.org/officeDocument/2006/relationships/notesSlide" Target="/ppt/notesSlides/notesSlide13.xml" Id="Re5c004bdbc1c4d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af5d5245714849" /><Relationship Type="http://schemas.openxmlformats.org/officeDocument/2006/relationships/notesSlide" Target="/ppt/notesSlides/notesSlide14.xml" Id="R258ebfe94e9d4e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a0ec08ceec4acc" /><Relationship Type="http://schemas.openxmlformats.org/officeDocument/2006/relationships/notesSlide" Target="/ppt/notesSlides/notesSlide15.xml" Id="Rfad79ce5747f43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d2c20b965c4224" /><Relationship Type="http://schemas.openxmlformats.org/officeDocument/2006/relationships/notesSlide" Target="/ppt/notesSlides/notesSlide16.xml" Id="Rb7228db71a4146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a93a4487ec45b9" /><Relationship Type="http://schemas.openxmlformats.org/officeDocument/2006/relationships/notesSlide" Target="/ppt/notesSlides/notesSlide17.xml" Id="R4ff466382ae846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6cd85ce9174626" /><Relationship Type="http://schemas.openxmlformats.org/officeDocument/2006/relationships/notesSlide" Target="/ppt/notesSlides/notesSlide18.xml" Id="R014200b2f31845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3704580fd64111" /><Relationship Type="http://schemas.openxmlformats.org/officeDocument/2006/relationships/notesSlide" Target="/ppt/notesSlides/notesSlide19.xml" Id="Rf7d586d007a64c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7635A98-50CB-4D2A-A38E-8C806A09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B79EE35-DECC-4440-B0F1-23E90068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DETAILED PAPER BRIEF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7DBAD55-5648-4FBF-8F93-5DF657FE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876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Demystifying NCCL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3C4EF0-A097-45D1-AC6D-A7A1E8DE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847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按论文粒度展开：协议、传输层、collective primitive 与 benchmark 结论</a:t>
            </a:r>
          </a:p>
        </p:txBody>
      </p:sp>
      <p:sp>
        <p:nvSpPr>
          <p:cNvPr id="5" name="pill">
            <a:extLst xmlns:a="http://schemas.openxmlformats.org/drawingml/2006/main">
              <a:ext uri="{FF2B5EF4-FFF2-40B4-BE49-F238E27FC236}">
                <a16:creationId xmlns:a16="http://schemas.microsoft.com/office/drawing/2014/main" id="{9A02591F-CE31-4CE2-AF87-8683D232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8CCC0E-1073-408F-A284-2EA2130E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API / channels</a:t>
            </a:r>
          </a:p>
        </p:txBody>
      </p:sp>
      <p:sp>
        <p:nvSpPr>
          <p:cNvPr id="7" name="pill">
            <a:extLst xmlns:a="http://schemas.openxmlformats.org/drawingml/2006/main">
              <a:ext uri="{FF2B5EF4-FFF2-40B4-BE49-F238E27FC236}">
                <a16:creationId xmlns:a16="http://schemas.microsoft.com/office/drawing/2014/main" id="{BD6F3BD0-CF21-43A6-BA49-B957958F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005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9525">
            <a:solidFill>
              <a:srgbClr val="F3B44E"/>
            </a:solidFill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56EAAB-2DAB-4260-AE3F-02D8AE0E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481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Simple / LL / LL128</a:t>
            </a:r>
          </a:p>
        </p:txBody>
      </p:sp>
      <p:sp>
        <p:nvSpPr>
          <p:cNvPr id="9" name="pill">
            <a:extLst xmlns:a="http://schemas.openxmlformats.org/drawingml/2006/main">
              <a:ext uri="{FF2B5EF4-FFF2-40B4-BE49-F238E27FC236}">
                <a16:creationId xmlns:a16="http://schemas.microsoft.com/office/drawing/2014/main" id="{6372B8C5-8F17-417A-B0D0-4DDFFADF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005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9525">
            <a:solidFill>
              <a:srgbClr val="6FBF73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BA199E-B8F7-4E44-8E01-63D5E066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481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P2P / SHM / IB</a:t>
            </a:r>
          </a:p>
        </p:txBody>
      </p:sp>
      <p:sp>
        <p:nvSpPr>
          <p:cNvPr id="11" name="pill">
            <a:extLst xmlns:a="http://schemas.openxmlformats.org/drawingml/2006/main">
              <a:ext uri="{FF2B5EF4-FFF2-40B4-BE49-F238E27FC236}">
                <a16:creationId xmlns:a16="http://schemas.microsoft.com/office/drawing/2014/main" id="{44BE1D1E-D97D-474F-BACE-5DCA711B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0005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6FF"/>
          </a:solidFill>
          <a:ln xmlns:a="http://schemas.openxmlformats.org/drawingml/2006/main" w="9525">
            <a:solidFill>
              <a:srgbClr val="6BA6FF"/>
            </a:solidFill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506B7BC-4430-4DAD-89CB-E151D016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481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Ring / Tree</a:t>
            </a:r>
          </a:p>
        </p:txBody>
      </p:sp>
      <p:sp>
        <p:nvSpPr>
          <p:cNvPr id="13" name="pill">
            <a:extLst xmlns:a="http://schemas.openxmlformats.org/drawingml/2006/main">
              <a:ext uri="{FF2B5EF4-FFF2-40B4-BE49-F238E27FC236}">
                <a16:creationId xmlns:a16="http://schemas.microsoft.com/office/drawing/2014/main" id="{C9445217-F3E3-4DEF-A9A3-DA09A5D1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005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9525">
            <a:solidFill>
              <a:srgbClr val="E56B5D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4A93D7C-6F0C-44DC-9051-EEA711ED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481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ATLAHS simulation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FFC4BF1-63DC-422A-808F-8B0BC38F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目标：按照论文粒度讲清 NCCL 内部实现，而不是只总结“哪个协议快”。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27CDDA-D204-485A-B9D2-4E2FF46E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9833ED1-D82E-482A-9462-B4758436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636895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BD10BB3-5B82-465C-82CD-B36A6625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94E26325-CEE2-4CD1-8EA6-8671F1BB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8F105C0-6250-45E2-9646-97B1C568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READING MAP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7695F44-FE61-4902-969A-3069AEA2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论文主线是从 API 抽象一路下钻到 GPU primitive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7A8AA1-38EB-4FB7-A372-C70D19D6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这版 PPT 按论文结构展开，每一章都保留关键实现细节。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7ED2AE-9F22-4F53-B0AF-77004489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229A746-5214-4352-94BC-34BAC85B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8" name="pill">
            <a:extLst xmlns:a="http://schemas.openxmlformats.org/drawingml/2006/main">
              <a:ext uri="{FF2B5EF4-FFF2-40B4-BE49-F238E27FC236}">
                <a16:creationId xmlns:a16="http://schemas.microsoft.com/office/drawing/2014/main" id="{545E5186-08EF-42ED-B074-333CEDA5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A99476-D4B5-42CB-88F2-8AE93736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9D7524C-AE7A-43B0-B9D6-E1FEC9F0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479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NCCL overview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15F6C42-E2C9-4397-8838-E91A2B43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API、communicator、launch 模式、channel 与拓扑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97E1C02E-5737-4D5E-8BD7-E42CE457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43200"/>
            <a:ext cx="908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3B"/>
          </a:solidFill>
          <a:ln xmlns:a="http://schemas.openxmlformats.org/drawingml/2006/main" w="0">
            <a:noFill/>
          </a:ln>
        </p:spPr>
      </p:sp>
      <p:sp>
        <p:nvSpPr>
          <p:cNvPr id="13" name="pill">
            <a:extLst xmlns:a="http://schemas.openxmlformats.org/drawingml/2006/main">
              <a:ext uri="{FF2B5EF4-FFF2-40B4-BE49-F238E27FC236}">
                <a16:creationId xmlns:a16="http://schemas.microsoft.com/office/drawing/2014/main" id="{B02E426C-3B3E-48D8-98E8-A41342E4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9525">
            <a:solidFill>
              <a:srgbClr val="F3B44E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852EA20-2D1D-4903-A399-7C5459A4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3847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BD070DF-6D4F-4556-A2BD-92B38FC4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718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Communication protocols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21EC946-6847-4B8A-A1E3-E2A502F0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99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Simple、LL、LL128 的 payload、同步和适用场景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4363F37D-57EC-4835-B6D9-D11320C3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67100"/>
            <a:ext cx="908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3B"/>
          </a:solidFill>
          <a:ln xmlns:a="http://schemas.openxmlformats.org/drawingml/2006/main" w="0">
            <a:noFill/>
          </a:ln>
        </p:spPr>
      </p:sp>
      <p:sp>
        <p:nvSpPr>
          <p:cNvPr id="18" name="pill">
            <a:extLst xmlns:a="http://schemas.openxmlformats.org/drawingml/2006/main">
              <a:ext uri="{FF2B5EF4-FFF2-40B4-BE49-F238E27FC236}">
                <a16:creationId xmlns:a16="http://schemas.microsoft.com/office/drawing/2014/main" id="{4BB0E30E-F083-4DD6-BD8A-E0C059FF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9525">
            <a:solidFill>
              <a:srgbClr val="6FBF73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183C9E0-4B68-465D-8B4B-F01EC4B9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02670BF-6E9E-425D-BA36-6B968D95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957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Transport layer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0952BAC-F0B1-4DDB-B1B2-27BB07A6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338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节点内 P2P/SHM；跨节点 Socket/IB/GDRDMA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FA0CF709-E16A-4099-A0CD-A78FE2FC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91000"/>
            <a:ext cx="908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3B"/>
          </a:solidFill>
          <a:ln xmlns:a="http://schemas.openxmlformats.org/drawingml/2006/main" w="0">
            <a:noFill/>
          </a:ln>
        </p:spPr>
      </p:sp>
      <p:sp>
        <p:nvSpPr>
          <p:cNvPr id="23" name="pill">
            <a:extLst xmlns:a="http://schemas.openxmlformats.org/drawingml/2006/main">
              <a:ext uri="{FF2B5EF4-FFF2-40B4-BE49-F238E27FC236}">
                <a16:creationId xmlns:a16="http://schemas.microsoft.com/office/drawing/2014/main" id="{786812E3-82B1-4BD7-9E11-C59EC844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6FF"/>
          </a:solidFill>
          <a:ln xmlns:a="http://schemas.openxmlformats.org/drawingml/2006/main" w="9525">
            <a:solidFill>
              <a:srgbClr val="6BA6FF"/>
            </a:solidFill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28091FF-6D5F-4EDD-B09D-6F7EBEEC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8627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3A6D116-5C3B-4287-AC3D-638BDCAF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Collective algorithms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E387680-B228-4E0B-98B1-4896BA24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primitive、loop、pipeline、Ring/Tree 具体步骤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AFD1A8B2-93E6-4175-ADA5-70A94181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908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3B"/>
          </a:solidFill>
          <a:ln xmlns:a="http://schemas.openxmlformats.org/drawingml/2006/main" w="0">
            <a:noFill/>
          </a:ln>
        </p:spPr>
      </p:sp>
      <p:sp>
        <p:nvSpPr>
          <p:cNvPr id="28" name="pill">
            <a:extLst xmlns:a="http://schemas.openxmlformats.org/drawingml/2006/main">
              <a:ext uri="{FF2B5EF4-FFF2-40B4-BE49-F238E27FC236}">
                <a16:creationId xmlns:a16="http://schemas.microsoft.com/office/drawing/2014/main" id="{051726B3-F6D5-4015-84DA-3603D698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9525">
            <a:solidFill>
              <a:srgbClr val="E56B5D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ACE9CC5-7E01-4157-AF21-4B35871A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017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D8AA9D7-2EB5-4C10-A6CA-9B38EC4D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435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Evidence and use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41AFACA-570D-4EDC-88C1-48F88A24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816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benchmark 结论、ATLAHS 建模、工程启发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17D5049E-4EAB-4D82-B0BC-4AA0C065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38800"/>
            <a:ext cx="908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33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907615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C65CDCF-F98C-423D-AB95-0D2FEF9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D0DB9A17-A155-4CF9-9F99-56CCE373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3087BB6-0ECA-4B72-A452-AC850409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NCCL OVERVIEW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364097C-D79A-4FB7-924D-DEC505E3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NCCL API 很薄，但它隐藏了大量 topology-aware 执行选择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6C4A90A-CAEC-468A-8F17-3543914A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论文先把用户可见 API 分成四类，然后解释 communicator 和 rank 如何成为内部调度的基础。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31B039-C34D-446B-B071-3043A69C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77FA4E2-C41F-42F6-BC1E-41B3CE53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9FDCBF92-5A6A-43B1-8CDD-C5FCE437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7D0ECB4C-991D-409F-B967-5F7335F5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347C3B2-20D4-4578-8C80-EB0A4C34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Communicator management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12FE16B-F299-4929-A7E0-9E8236FE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1145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ncclCommInitAll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ncclCommInitRank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ncclCommDestroy / Abort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每个 GPU rank 持有 communicator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F9089D06-73D9-4349-B114-D5B71418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3979D812-501D-45D7-989E-C915F604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B9DE1BB-2417-495F-AA84-8465E1BD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98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Collective communication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464E0A1-9A87-423E-9846-FC5EFFE4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21145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AllReduce / Broadcast / Reduce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AllGather / ReduceScatter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面向同步训练的主要接口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5512AAAF-4252-41E8-B208-C6E2553E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3726256E-8451-4F7A-96D4-1D98E9F7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4C19EA7-9601-41FC-B412-B2EB3A82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98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Point-to-point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7C2D8A3-B08E-4C5A-8079-6CE329DB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1145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ncclSend / ncclRecv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用于构造更灵活通信模式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也被 group calls 聚合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537735B9-3A08-400D-A5C6-150514AB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243FAE8E-5986-4C94-A39A-948C0DA7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6FF"/>
          </a:solidFill>
          <a:ln xmlns:a="http://schemas.openxmlformats.org/drawingml/2006/main" w="0">
            <a:noFill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B2EA9A5-097D-4D89-898B-01615FE1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98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Group calls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7E13AFA-598D-4128-B791-922E8BC7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21145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ncclGroupStart / End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延迟执行并聚合 launch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降低 CPU/kernel launch 开销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24EE459-826D-4247-942B-F6D0C1BB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实现细节：communicator 初始化时建立 rank、channel、ring/tree 拓扑等元数据。一次 collective 调用发生时，NCCL 再按消息大小、拓扑和内部 tuning model 选择 algorithm/protocol/channel 数。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84E175C-7209-4A55-85F1-6F629348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914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因此 API 层看起来类似 MPI collective，但执行层是 GPU-centric：GPU kernel 执行数据移动/规约，CPU proxy 管理网络操作，NIC/互连负责传输。</a:t>
            </a:r>
          </a:p>
        </p:txBody>
      </p:sp>
    </p:spTree>
    <p:extLst>
      <p:ext uri="{BB962C8B-B14F-4D97-AF65-F5344CB8AC3E}">
        <p14:creationId xmlns:p14="http://schemas.microsoft.com/office/powerpoint/2010/main" val="14799200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F0A5B0C-EA27-4D37-90F9-551FD921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8C8C5B1A-7C6B-4761-BA51-ED6B349F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272AA20-554E-448F-8EAE-4C50B004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CHANNEL MANAGEMENT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59D8B9-72A9-4009-A8F1-52A8226C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Channel 把一个 collective 切成多个 CUDA block 并行执行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5D7EB9C-0452-47EE-96D7-664FAD68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每个 channel 处理 buffer 的一个连续区间；channel 数在 GPU 并行度和网络效率之间折中。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C36AF0-64D0-4844-A8D7-83508997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7C6F32B-B33B-44FF-9736-C1DD384D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AD32DE0F-A3D5-473B-AC5E-4E39FBDF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238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C5E0F276-51B9-49EF-BCC8-64204D9A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B69874D-5BE6-407B-8709-6135705B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1971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Why channels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98E425C-2973-4240-8E4A-A680EA6D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9716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单个 SM 无法吃满大消息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多 channel 分摊到多个 CUDA block/SM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提升 NVLink/IB 聚合吞吐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FB564CA6-B92B-48FB-A8FC-44BEB5C2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238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7D91967B-EE4F-4505-A15A-FE4040C6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E5DB177-BF8E-405E-963E-EF3C92CA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05075"/>
            <a:ext cx="1971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How data splits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CE3608E-AE3E-4E19-8511-19F4A862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19716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input count 先按 channelCount 切片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每个 channel 用 workOffset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再按 loopCount/chunkCount 迭代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E088DD00-D40F-48DD-8296-74BC9752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2238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262455DE-27B4-4887-A5F0-6C44E151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AB194BB-990E-4A12-BD99-3FFEC215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1971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Pipeline slots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A556ADF-BD61-4534-B621-13470D7E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19716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channel buffer 内有 NCCL_STEPS slots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默认通常 8 个 slot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slot 可处于不同传输阶段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539D3631-F813-4700-849A-7A7B8DCF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238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DFB0FA73-034D-4722-911A-BD044DD4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FCC0F9E-97F4-44F0-9187-D2C9DB3C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05075"/>
            <a:ext cx="1971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Risk of too many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5CA0434-91AB-4BFF-89C0-44985A21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19716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per-channel chunk 太小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512 KiB FIFO 不满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QP/ECMP 与网络效率下降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D6FE958F-F54E-4A40-8A2E-AD866F4C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2BDB9A9-63AD-4A9D-A47F-89BFB3E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D3909DCE-FFE7-4743-8928-64915FD4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65B4A54-0B23-4236-AB81-EF14241E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Total channel buffer</a:t>
            </a:r>
          </a:p>
        </p:txBody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327A897F-2223-491E-AD1B-098E439F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EE06183-CA54-4A1E-B05B-6C2BC64C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577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Buffer capacity/slot</a:t>
            </a:r>
          </a:p>
        </p:txBody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43936C4C-1ED0-4A70-8A22-5CD186E5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815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8067118-8D88-4F1F-8238-CA8AB052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577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Effective data/slot</a:t>
            </a:r>
          </a:p>
        </p:txBody>
      </p:sp>
      <p:sp>
        <p:nvSpPr>
          <p:cNvPr id="32" name="rect">
            <a:extLst xmlns:a="http://schemas.openxmlformats.org/drawingml/2006/main">
              <a:ext uri="{FF2B5EF4-FFF2-40B4-BE49-F238E27FC236}">
                <a16:creationId xmlns:a16="http://schemas.microsoft.com/office/drawing/2014/main" id="{F3959554-0218-409B-BC79-2BB86D57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AD4AFFE-A46B-431C-8444-22ED37B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B88E9704-EB62-43B5-8913-5AD2215C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1AD8D94-BEBF-4AC2-B5E2-F15045FD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4 MiB</a:t>
            </a:r>
          </a:p>
        </p:txBody>
      </p:sp>
      <p:sp>
        <p:nvSpPr>
          <p:cNvPr id="36" name="rect">
            <a:extLst xmlns:a="http://schemas.openxmlformats.org/drawingml/2006/main">
              <a:ext uri="{FF2B5EF4-FFF2-40B4-BE49-F238E27FC236}">
                <a16:creationId xmlns:a16="http://schemas.microsoft.com/office/drawing/2014/main" id="{925EE03B-47A3-450A-9995-11672C5F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99F39653-66CE-46F2-B356-F85DB670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387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512 KiB</a:t>
            </a:r>
          </a:p>
        </p:txBody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31BEDE76-52CC-45A7-BAFA-7DF88456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BBA46B3-70AE-4278-9696-93C7B512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387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512 KiB</a:t>
            </a:r>
          </a:p>
        </p:txBody>
      </p:sp>
      <p:sp>
        <p:nvSpPr>
          <p:cNvPr id="40" name="rect">
            <a:extLst xmlns:a="http://schemas.openxmlformats.org/drawingml/2006/main">
              <a:ext uri="{FF2B5EF4-FFF2-40B4-BE49-F238E27FC236}">
                <a16:creationId xmlns:a16="http://schemas.microsoft.com/office/drawing/2014/main" id="{52D3EEB0-971B-4990-8F1C-C79B7738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D5FCE170-5E50-4B31-B779-F229C37A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LL</a:t>
            </a:r>
          </a:p>
        </p:txBody>
      </p:sp>
      <p:sp>
        <p:nvSpPr>
          <p:cNvPr id="42" name="rect">
            <a:extLst xmlns:a="http://schemas.openxmlformats.org/drawingml/2006/main">
              <a:ext uri="{FF2B5EF4-FFF2-40B4-BE49-F238E27FC236}">
                <a16:creationId xmlns:a16="http://schemas.microsoft.com/office/drawing/2014/main" id="{F55ACD93-C782-403B-8E67-6F413199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1FE2F9A9-1FD9-4107-9AB8-2C74DB56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256 KiB</a:t>
            </a:r>
          </a:p>
        </p:txBody>
      </p:sp>
      <p:sp>
        <p:nvSpPr>
          <p:cNvPr id="44" name="rect">
            <a:extLst xmlns:a="http://schemas.openxmlformats.org/drawingml/2006/main">
              <a:ext uri="{FF2B5EF4-FFF2-40B4-BE49-F238E27FC236}">
                <a16:creationId xmlns:a16="http://schemas.microsoft.com/office/drawing/2014/main" id="{E1A4BD69-147B-4325-8186-E0AA0A41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E4ACDCC8-7FA6-45A8-9ED8-E3E4C30F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197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32 KiB</a:t>
            </a:r>
          </a:p>
        </p:txBody>
      </p:sp>
      <p:sp>
        <p:nvSpPr>
          <p:cNvPr id="46" name="rect">
            <a:extLst xmlns:a="http://schemas.openxmlformats.org/drawingml/2006/main">
              <a:ext uri="{FF2B5EF4-FFF2-40B4-BE49-F238E27FC236}">
                <a16:creationId xmlns:a16="http://schemas.microsoft.com/office/drawing/2014/main" id="{D76C2364-2CD6-415E-AD3F-C3432720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435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576B8BD9-AFC6-4524-A69F-07133E2D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197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16 KiB</a:t>
            </a:r>
          </a:p>
        </p:txBody>
      </p:sp>
      <p:sp>
        <p:nvSpPr>
          <p:cNvPr id="48" name="rect">
            <a:extLst xmlns:a="http://schemas.openxmlformats.org/drawingml/2006/main">
              <a:ext uri="{FF2B5EF4-FFF2-40B4-BE49-F238E27FC236}">
                <a16:creationId xmlns:a16="http://schemas.microsoft.com/office/drawing/2014/main" id="{194F620C-80F3-4EBE-BD79-4F61C880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58EE7F11-E962-4329-A4FB-48A4A17A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007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LL128</a:t>
            </a:r>
          </a:p>
        </p:txBody>
      </p:sp>
      <p:sp>
        <p:nvSpPr>
          <p:cNvPr id="50" name="rect">
            <a:extLst xmlns:a="http://schemas.openxmlformats.org/drawingml/2006/main">
              <a:ext uri="{FF2B5EF4-FFF2-40B4-BE49-F238E27FC236}">
                <a16:creationId xmlns:a16="http://schemas.microsoft.com/office/drawing/2014/main" id="{8E441004-9641-4AE4-AFE6-69610126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FA2DC1AE-24E6-4591-9574-A98C8980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007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~4800 KiB</a:t>
            </a:r>
          </a:p>
        </p:txBody>
      </p:sp>
      <p:sp>
        <p:nvSpPr>
          <p:cNvPr id="52" name="rect">
            <a:extLst xmlns:a="http://schemas.openxmlformats.org/drawingml/2006/main">
              <a:ext uri="{FF2B5EF4-FFF2-40B4-BE49-F238E27FC236}">
                <a16:creationId xmlns:a16="http://schemas.microsoft.com/office/drawing/2014/main" id="{41A56850-A3A5-4441-B3C5-46D44D47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245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D1508E1D-69C7-48C7-AA5E-1FBE2275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007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600 KiB</a:t>
            </a:r>
          </a:p>
        </p:txBody>
      </p:sp>
      <p:sp>
        <p:nvSpPr>
          <p:cNvPr id="54" name="rect">
            <a:extLst xmlns:a="http://schemas.openxmlformats.org/drawingml/2006/main">
              <a:ext uri="{FF2B5EF4-FFF2-40B4-BE49-F238E27FC236}">
                <a16:creationId xmlns:a16="http://schemas.microsoft.com/office/drawing/2014/main" id="{B9C0A44A-A9EB-41FB-89A3-A4D3218E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245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9706935D-7B45-4465-BC67-D9D35D6E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007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562.5 KiB</a:t>
            </a:r>
          </a:p>
        </p:txBody>
      </p:sp>
    </p:spTree>
    <p:extLst>
      <p:ext uri="{BB962C8B-B14F-4D97-AF65-F5344CB8AC3E}">
        <p14:creationId xmlns:p14="http://schemas.microsoft.com/office/powerpoint/2010/main" val="21285844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1FA5BB5-EF71-4D7C-89F5-B193B589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4A63291C-713D-4A4B-BED0-7C05BF9A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2AD9C08-FA41-43D6-9020-DF421E63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LOGICAL TOPOLOGY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C08F100-C83A-4B70-AB3B-338D400A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NCCL 为每个 channel 预先建立 ring 或 tree 关系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FAD43B9-8C44-4DBA-BE46-8090C861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拓扑不是图上的装饰：它决定每个 rank 在每一步 recv/send/reduce/copy 的依赖。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5575CB3-6320-4AFC-B513-C97E5887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EDFA077-1ED2-4315-8D5E-2142D202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01CFD932-0E54-446A-B265-69567B21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4191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42B4CA-66D8-4DD4-A704-0C1FEB5D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Ring topology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F66EA162-EE81-4AAD-B1D3-8E065ACF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385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FDFC6855-4515-4EBB-AAE1-34350B45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0B46843A-EC55-4DA9-82C4-64BAC9DE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AD56EE14-E3B7-4340-83E4-42969DBD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290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4DAB8495-D48C-4D56-9F38-FBED0610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B066513-E38C-42A9-A789-7DBEBBCC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62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822CD56B-E7E4-488F-9E3B-87FA615C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9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52E0C90-A7DD-4D62-A528-551FC620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62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B3B41EE2-E14A-4512-8ABB-9A914E55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48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E1EEDC7-FAA4-41FD-88A6-FC89FF58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75B967FB-24DB-4411-9CF2-073E691A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48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63F4E29-CE28-4192-B31C-DC7F31E6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98BDE5DE-8520-4D3E-8DB6-7D001848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4191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FADF36E-E253-43A4-8594-F11F7AD5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Double binary tree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9DFC1221-C86B-4982-96F0-FC305FC0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5750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D08116E-328E-4862-8BE2-49043E69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0990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root</a:t>
            </a:r>
          </a:p>
        </p:txBody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1CF2D341-C6E8-4F66-B97F-E2A9C661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6715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6411173-A2AD-4161-AEB9-C336EE80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195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leaf</a:t>
            </a:r>
          </a:p>
        </p:txBody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046D091F-ED59-4DC7-A796-22735E7C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6715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C16D653-52B1-44B6-827E-C69D2123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95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middle</a:t>
            </a:r>
          </a:p>
        </p:txBody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646CDB54-C1AB-4CA6-9512-3CF2D57A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2440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39E703E-1865-47FB-868A-409D2EB8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7680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leaf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D6D1CB8C-7A27-4FE2-915A-8D256E61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1470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33" name="line">
            <a:extLst xmlns:a="http://schemas.openxmlformats.org/drawingml/2006/main">
              <a:ext uri="{FF2B5EF4-FFF2-40B4-BE49-F238E27FC236}">
                <a16:creationId xmlns:a16="http://schemas.microsoft.com/office/drawing/2014/main" id="{0D7FBD3B-5A77-41ED-8E82-AAB822E4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E1BF22D6-5713-4C8E-8885-948C41AB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33875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35" name="line">
            <a:extLst xmlns:a="http://schemas.openxmlformats.org/drawingml/2006/main">
              <a:ext uri="{FF2B5EF4-FFF2-40B4-BE49-F238E27FC236}">
                <a16:creationId xmlns:a16="http://schemas.microsoft.com/office/drawing/2014/main" id="{60C0EFD0-F0BF-401B-A16C-8FA1F0B5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BFD59F22-9AEA-4D87-BD0D-89E9B5CE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论文强调：Ring 中 rank 只记录前驱/后继；Tree 中 rank 记录 parent/children。NCCL double binary tree 让节点不同时在两棵树里做非叶节点，以提高带宽利用。</a:t>
            </a:r>
          </a:p>
        </p:txBody>
      </p:sp>
    </p:spTree>
    <p:extLst>
      <p:ext uri="{BB962C8B-B14F-4D97-AF65-F5344CB8AC3E}">
        <p14:creationId xmlns:p14="http://schemas.microsoft.com/office/powerpoint/2010/main" val="18637945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16F030E-37D3-4912-B3C1-0EE8EF8C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E68BAB17-C840-4642-BCB7-6A9D3A9C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82E2F62-B3BE-45D2-AC65-AD615E1F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PROTOCOL COMPARISON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E6A4B55-9F6D-45EC-A67D-0A57C5B7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三个协议的核心差异是同步机制和 payload 粒度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CECFE78-36EF-4827-A5FB-2BAE6572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追求大消息带宽；LL 牺牲带宽换低延迟；LL128 用 128B 单元把低延迟和较高带宽结合。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E4E93BF-F2A0-43A8-9A80-1FA4774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93949C-524A-4E82-90C0-4A26FA81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222679C9-F207-4138-AD19-B8417523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879759A-7610-4786-B30F-942C3F78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5C350536-B8E4-45EA-9D12-A79B1F1E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098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1F8363-3A92-42EE-BFF6-5C7057CA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860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Design goal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983CD098-52DD-471E-B485-F314527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6660E8D-6E83-4BCF-9299-590FB569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860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Sync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6E76735A-2581-44ED-AD9B-F46CD334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098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BF28CBD-E51D-403F-93FE-74913FB5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860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Payload unit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5E8F273D-7FC2-4D78-A0ED-94204AAE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FBB0CB9-1B11-4865-94AE-E99090CB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8600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Bandwidth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8D5D13AD-313A-4A39-A6C4-C35DA143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098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8B65713-F274-4706-B3E5-D3DC9CAC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Latency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7B1C3E5D-B15E-4C96-8387-A8CDB40C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4F32287-F45A-490E-80EE-987D82A4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95316EC7-5174-4947-88CF-5A8C95EE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05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DB4F26A-C0A6-4051-90BA-6CD703E8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813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High bandwidth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8B2E629E-A276-48D7-A678-CC105A04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05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0D9A5DF-76C8-4E22-ACB0-FC130A6A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813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Memory fences</a:t>
            </a:r>
          </a:p>
        </p:txBody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C1EB18B6-0244-4B7E-9C20-6CC1788A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05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45C8661-99CD-49F0-897B-E55E62FB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813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Data chunks</a:t>
            </a:r>
          </a:p>
        </p:txBody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E971E644-F57F-40E2-8651-D5C0F791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051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7875E79-55B5-4F24-B3F5-5A08A9D2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Near peak</a:t>
            </a:r>
          </a:p>
        </p:txBody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CBB21DA4-2A7F-49EC-8F9A-CECA1BF5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051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DA07E18-9DBE-4E58-9507-FA94DC92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~6µs/hop</a:t>
            </a:r>
          </a:p>
        </p:txBody>
      </p:sp>
      <p:sp>
        <p:nvSpPr>
          <p:cNvPr id="32" name="rect">
            <a:extLst xmlns:a="http://schemas.openxmlformats.org/drawingml/2006/main">
              <a:ext uri="{FF2B5EF4-FFF2-40B4-BE49-F238E27FC236}">
                <a16:creationId xmlns:a16="http://schemas.microsoft.com/office/drawing/2014/main" id="{45A9C1D5-3459-463E-884E-02C061BC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6D8714C-7CA8-4F40-9F89-363343C1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LL</a:t>
            </a:r>
          </a:p>
        </p:txBody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4C4F90CF-0825-4386-821E-025DC00B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004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2DC3E55-966B-4F61-83BB-62BD1E12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766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Low latency</a:t>
            </a:r>
          </a:p>
        </p:txBody>
      </p:sp>
      <p:sp>
        <p:nvSpPr>
          <p:cNvPr id="36" name="rect">
            <a:extLst xmlns:a="http://schemas.openxmlformats.org/drawingml/2006/main">
              <a:ext uri="{FF2B5EF4-FFF2-40B4-BE49-F238E27FC236}">
                <a16:creationId xmlns:a16="http://schemas.microsoft.com/office/drawing/2014/main" id="{556600AB-984A-4477-AD88-525E9DA7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04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66EBD055-DD54-4EFF-902F-A243C95A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766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Flag-based</a:t>
            </a:r>
          </a:p>
        </p:txBody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5577402E-EB06-4594-BC84-C50AC18C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004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65F82C6E-09F8-4335-9523-7AEE6946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4B data + 4B flag</a:t>
            </a:r>
          </a:p>
        </p:txBody>
      </p:sp>
      <p:sp>
        <p:nvSpPr>
          <p:cNvPr id="40" name="rect">
            <a:extLst xmlns:a="http://schemas.openxmlformats.org/drawingml/2006/main">
              <a:ext uri="{FF2B5EF4-FFF2-40B4-BE49-F238E27FC236}">
                <a16:creationId xmlns:a16="http://schemas.microsoft.com/office/drawing/2014/main" id="{F5DF5B36-A3A9-4E53-83DD-C483EEA2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04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37E9DC4D-6330-4979-B9EA-0B72D4EA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7660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25-50% peak</a:t>
            </a:r>
          </a:p>
        </p:txBody>
      </p:sp>
      <p:sp>
        <p:nvSpPr>
          <p:cNvPr id="42" name="rect">
            <a:extLst xmlns:a="http://schemas.openxmlformats.org/drawingml/2006/main">
              <a:ext uri="{FF2B5EF4-FFF2-40B4-BE49-F238E27FC236}">
                <a16:creationId xmlns:a16="http://schemas.microsoft.com/office/drawing/2014/main" id="{A9F4FC93-245A-4286-8D18-44AFA634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004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0C914D9E-6554-4F51-A8FC-9A3A903B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7660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~1µs/hop</a:t>
            </a:r>
          </a:p>
        </p:txBody>
      </p:sp>
      <p:sp>
        <p:nvSpPr>
          <p:cNvPr id="44" name="rect">
            <a:extLst xmlns:a="http://schemas.openxmlformats.org/drawingml/2006/main">
              <a:ext uri="{FF2B5EF4-FFF2-40B4-BE49-F238E27FC236}">
                <a16:creationId xmlns:a16="http://schemas.microsoft.com/office/drawing/2014/main" id="{5A8104D4-F564-4152-AD42-9777C33D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3C7B7444-B13A-4AEE-9F0B-BD5A7D66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LL128</a:t>
            </a:r>
          </a:p>
        </p:txBody>
      </p:sp>
      <p:sp>
        <p:nvSpPr>
          <p:cNvPr id="46" name="rect">
            <a:extLst xmlns:a="http://schemas.openxmlformats.org/drawingml/2006/main">
              <a:ext uri="{FF2B5EF4-FFF2-40B4-BE49-F238E27FC236}">
                <a16:creationId xmlns:a16="http://schemas.microsoft.com/office/drawing/2014/main" id="{5DFB9B95-B06C-4120-934C-B0D7A358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957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D8D5AF6A-04C3-4D13-A384-5CBAC182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719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Latency + bandwidth</a:t>
            </a:r>
          </a:p>
        </p:txBody>
      </p:sp>
      <p:sp>
        <p:nvSpPr>
          <p:cNvPr id="48" name="rect">
            <a:extLst xmlns:a="http://schemas.openxmlformats.org/drawingml/2006/main">
              <a:ext uri="{FF2B5EF4-FFF2-40B4-BE49-F238E27FC236}">
                <a16:creationId xmlns:a16="http://schemas.microsoft.com/office/drawing/2014/main" id="{4B0A1639-3DE7-428C-BA13-57770501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957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67E36C50-75E4-4D7C-B915-D35B1BE9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719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Flag-based</a:t>
            </a:r>
          </a:p>
        </p:txBody>
      </p:sp>
      <p:sp>
        <p:nvSpPr>
          <p:cNvPr id="50" name="rect">
            <a:extLst xmlns:a="http://schemas.openxmlformats.org/drawingml/2006/main">
              <a:ext uri="{FF2B5EF4-FFF2-40B4-BE49-F238E27FC236}">
                <a16:creationId xmlns:a16="http://schemas.microsoft.com/office/drawing/2014/main" id="{6D0CD4B3-3C12-48D6-906C-405A50C9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957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14E64086-1658-4829-AC36-E1983F77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719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120B data + 8B flag</a:t>
            </a:r>
          </a:p>
        </p:txBody>
      </p:sp>
      <p:sp>
        <p:nvSpPr>
          <p:cNvPr id="52" name="rect">
            <a:extLst xmlns:a="http://schemas.openxmlformats.org/drawingml/2006/main">
              <a:ext uri="{FF2B5EF4-FFF2-40B4-BE49-F238E27FC236}">
                <a16:creationId xmlns:a16="http://schemas.microsoft.com/office/drawing/2014/main" id="{E829CF18-BB1A-44D2-82D9-066BE8A7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957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4FB2632C-75E8-449C-A078-59E13285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7190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~95% peak</a:t>
            </a:r>
          </a:p>
        </p:txBody>
      </p:sp>
      <p:sp>
        <p:nvSpPr>
          <p:cNvPr id="54" name="rect">
            <a:extLst xmlns:a="http://schemas.openxmlformats.org/drawingml/2006/main">
              <a:ext uri="{FF2B5EF4-FFF2-40B4-BE49-F238E27FC236}">
                <a16:creationId xmlns:a16="http://schemas.microsoft.com/office/drawing/2014/main" id="{9D4F5DF7-CD13-4369-AE80-18E13D0E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957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5A823402-9709-4F07-A589-C42B3235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71900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~2µs/hop</a:t>
            </a:r>
          </a:p>
        </p:txBody>
      </p:sp>
      <p:sp>
        <p:nvSpPr>
          <p:cNvPr id="56" name="rect">
            <a:extLst xmlns:a="http://schemas.openxmlformats.org/drawingml/2006/main">
              <a:ext uri="{FF2B5EF4-FFF2-40B4-BE49-F238E27FC236}">
                <a16:creationId xmlns:a16="http://schemas.microsoft.com/office/drawing/2014/main" id="{574862EE-B473-4116-9691-5C2A4B14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E1B09BB3-94A3-4F8C-BD75-0ACA5088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Simple 的代价</a:t>
            </a:r>
          </a:p>
        </p:txBody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968EFAC9-84B5-4AFF-AA08-9986B2AE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receiver 要等完整 chunk 可见；memory fence 对小消息很贵。</a:t>
            </a:r>
          </a:p>
        </p:txBody>
      </p:sp>
      <p:sp>
        <p:nvSpPr>
          <p:cNvPr id="59" name="rect">
            <a:extLst xmlns:a="http://schemas.openxmlformats.org/drawingml/2006/main">
              <a:ext uri="{FF2B5EF4-FFF2-40B4-BE49-F238E27FC236}">
                <a16:creationId xmlns:a16="http://schemas.microsoft.com/office/drawing/2014/main" id="{6F45D26C-0E36-4974-93E5-B421EB55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0AE59371-B7D6-43E6-B9A9-1D2A31CF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291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LL 的代价</a:t>
            </a:r>
          </a:p>
        </p:txBody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E383DAD5-CE57-449A-8C98-9ACAF0BB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CPU 需要 poll host-side flag；通常不能走 GDRDMA，带宽受限。</a:t>
            </a:r>
          </a:p>
        </p:txBody>
      </p:sp>
      <p:sp>
        <p:nvSpPr>
          <p:cNvPr id="62" name="rect">
            <a:extLst xmlns:a="http://schemas.openxmlformats.org/drawingml/2006/main">
              <a:ext uri="{FF2B5EF4-FFF2-40B4-BE49-F238E27FC236}">
                <a16:creationId xmlns:a16="http://schemas.microsoft.com/office/drawing/2014/main" id="{97D3E130-CF8E-4539-A891-0363A31B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96F522B0-184F-4C4F-AED3-E0B578BF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291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LL128 的约束</a:t>
            </a:r>
          </a:p>
        </p:txBody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D5546C31-52F7-4C05-A3BC-DA2988E5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需要 128B atomic write 不被拆分/重排；硬件不保证时 NCCL 会禁用。</a:t>
            </a:r>
          </a:p>
        </p:txBody>
      </p:sp>
    </p:spTree>
    <p:extLst>
      <p:ext uri="{BB962C8B-B14F-4D97-AF65-F5344CB8AC3E}">
        <p14:creationId xmlns:p14="http://schemas.microsoft.com/office/powerpoint/2010/main" val="13091025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7C06491-950E-4519-AFA7-24D75DC1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F5126B1E-C990-41B9-A8D6-B9988248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5305164-1D2E-458C-AAC1-5BDF991E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SIMPLE PROTOCOL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6B1E984-3312-41C0-B419-08850B76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Simple 用粗粒度 chunk 和较少同步事件换高吞吐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BB67D3-EC02-43A2-A537-C8C03E76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适合大 payload；小 payload 时同步和等待完整 chunk 的成本会主导。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C94192-4E85-4FF6-8F07-2BC6F266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DCA72F6-0882-411B-ABBB-72545A70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36E242B5-8600-465E-9E10-046F8329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44A3FC5-454F-460A-9A30-5F2100FF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one channel buffer, coarse chunks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3829AF3B-7260-4504-A82A-8D43121C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35C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8D46906-FFA2-4653-B6E6-C11E8427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289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chunk 0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7B65E7C4-B6B3-4AC8-9E37-BCC395CD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7655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1C2011A-5A8D-4AF9-B9B3-AC6394CE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289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chunk 1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88C69DAD-A8F9-4E8E-8598-1E0FA6D5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7655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35C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81F0725-1F71-4C7F-B739-D41A06C6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chunk 2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F8E0C7B0-6E40-4034-B9F2-E922031E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7655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D86314F-1683-4C70-880D-A502B03E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0289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chunk 3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169388B1-CD45-4BF1-9873-7A0AB63F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35C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DB1742F-1E7B-4FCF-B72D-AD164B15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289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chunk 4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7927BE79-73F8-4252-AF16-750CE3B3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7655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A"/>
          </a:solidFill>
          <a:ln xmlns:a="http://schemas.openxmlformats.org/drawingml/2006/main" w="0">
            <a:noFill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AA7E207-3C6F-4259-B520-2A5C7357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0289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chunk 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14768F99-C5EE-4D74-9C40-78E13858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71950"/>
            <a:ext cx="871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25709D0-31B7-4283-8295-3416B5A9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实现机制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CA85D331-C1CE-4B80-9A01-BC6A081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7B98842-7B28-4E5E-A331-FD9BB192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Large transfer units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104A4CA-9D9B-4C80-B1D1-4120D4D4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数据被切成相对大的 chunk，充分利用 NIC/GPU memory bandwidth。</a:t>
            </a:r>
          </a:p>
        </p:txBody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268051E3-B596-41DE-AE78-0A60144D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81D0FB6-B89C-43D5-8397-52BB079A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00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Memory fences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08DDD69-DDA3-4151-9D59-016918CF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通过 fence 保证 ordering/visibility；正确但同步成本较高。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CA67FFD-BD2D-478E-9005-0446A7FE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390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适用判断：当消息进入 MB/GB 级别，fence 次数相对 payload 很少，Simple 会明显优于 LL/LL128 的细粒度 flag 同步。</a:t>
            </a:r>
          </a:p>
        </p:txBody>
      </p:sp>
    </p:spTree>
    <p:extLst>
      <p:ext uri="{BB962C8B-B14F-4D97-AF65-F5344CB8AC3E}">
        <p14:creationId xmlns:p14="http://schemas.microsoft.com/office/powerpoint/2010/main" val="11495328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500912E-4C97-451B-9627-F1A55329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7F1A146B-661C-458A-BA50-A745145E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5A82418-D54D-40E1-B862-C9183BA6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LL PROTOCOL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5BCED0A-DA71-463D-B5FE-4DA2A4D0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LL 把同步信号塞进每 8B 原子写，降低小消息延迟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9D26267-B670-4260-9FAB-0593D3FC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它不是为了带宽设计的；关键是让 receiver 更快知道小块数据已经 ready。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94E148-A50A-4A5C-B433-F93FD088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D1054BB-5DFC-4C14-AA50-F3FEF183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ADF8600C-6D52-4400-9E7F-A3FC0B63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8FF2A3D5-71C4-454C-9A6C-C356CA88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33B"/>
          </a:solidFill>
          <a:ln xmlns:a="http://schemas.openxmlformats.org/drawingml/2006/main" w="9525">
            <a:solidFill>
              <a:srgbClr val="F3B44E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D872F28-EC65-4EC4-8BB4-B0CAC6C2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57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4B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366059-B865-4398-ACF6-BCBEB0D0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rPr>
              <a:t>flag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0943E0AB-EE19-40F2-8402-CC30067C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DFFEF4FE-DE8D-4ADF-BD17-405AC575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33B"/>
          </a:solidFill>
          <a:ln xmlns:a="http://schemas.openxmlformats.org/drawingml/2006/main" w="9525">
            <a:solidFill>
              <a:srgbClr val="F3B44E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0CF7859-54B1-4415-8694-6916AF90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57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4B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8C0A9A0-8DAA-4A04-BDB0-EE74ECC8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rPr>
              <a:t>flag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7E517B33-9014-4885-96A7-57A602AE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13B5754D-C888-4D2F-88F4-E9EE66DF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33B"/>
          </a:solidFill>
          <a:ln xmlns:a="http://schemas.openxmlformats.org/drawingml/2006/main" w="9525">
            <a:solidFill>
              <a:srgbClr val="F3B44E"/>
            </a:solidFill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9C9941B-6F73-4575-A94B-ED4CEDA2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57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4B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236088A-788D-4FE0-81FE-0136A882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rPr>
              <a:t>flag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DCA16B5A-F9E6-4D23-BBA1-CEBB9ABB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8B308DAA-9285-4ACA-919A-50E9AA1E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33B"/>
          </a:solidFill>
          <a:ln xmlns:a="http://schemas.openxmlformats.org/drawingml/2006/main" w="9525">
            <a:solidFill>
              <a:srgbClr val="F3B44E"/>
            </a:solidFill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88517CC-CD89-4878-9EFA-A3257B4A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4B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8096C74-D6B8-4FA9-9570-AF7B264B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rPr>
              <a:t>flag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7299D546-BAC6-4CEA-830D-354B7B05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470D1A77-BF73-4378-83AA-5A6FA61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33B"/>
          </a:solidFill>
          <a:ln xmlns:a="http://schemas.openxmlformats.org/drawingml/2006/main" w="9525">
            <a:solidFill>
              <a:srgbClr val="F3B44E"/>
            </a:solidFill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2242B2B-3711-405E-A016-A55C0FE9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857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4B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D5432CA-565D-4A8C-9435-EF3C1EF7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rPr>
              <a:t>flag</a:t>
            </a:r>
          </a:p>
        </p:txBody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023EE290-AB6A-41DA-B175-B8F3D452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05CA55C9-3F41-403F-B601-486C189F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33B"/>
          </a:solidFill>
          <a:ln xmlns:a="http://schemas.openxmlformats.org/drawingml/2006/main" w="9525">
            <a:solidFill>
              <a:srgbClr val="F3B44E"/>
            </a:solidFill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80EBE7A-EA32-47E0-9C5B-CE9347DC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57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4B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FEC8F31-2DF5-4EAD-B12F-1DD46DA6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rPr>
              <a:t>flag</a:t>
            </a:r>
          </a:p>
        </p:txBody>
      </p:sp>
      <p:sp>
        <p:nvSpPr>
          <p:cNvPr id="32" name="rect">
            <a:extLst xmlns:a="http://schemas.openxmlformats.org/drawingml/2006/main">
              <a:ext uri="{FF2B5EF4-FFF2-40B4-BE49-F238E27FC236}">
                <a16:creationId xmlns:a16="http://schemas.microsoft.com/office/drawing/2014/main" id="{5D0871EA-BA1D-4674-A9FA-0C31266C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BCEFE8FD-76DD-48D0-9A81-94F5CFA8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33B"/>
          </a:solidFill>
          <a:ln xmlns:a="http://schemas.openxmlformats.org/drawingml/2006/main" w="9525">
            <a:solidFill>
              <a:srgbClr val="F3B44E"/>
            </a:solidFill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A410D895-3B28-4CB2-B659-2CA53163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57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4B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35042673-F515-4287-A082-DEACCDB9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rPr>
              <a:t>flag</a:t>
            </a:r>
          </a:p>
        </p:txBody>
      </p:sp>
      <p:sp>
        <p:nvSpPr>
          <p:cNvPr id="36" name="rect">
            <a:extLst xmlns:a="http://schemas.openxmlformats.org/drawingml/2006/main">
              <a:ext uri="{FF2B5EF4-FFF2-40B4-BE49-F238E27FC236}">
                <a16:creationId xmlns:a16="http://schemas.microsoft.com/office/drawing/2014/main" id="{E2B877DF-FD65-4636-B745-E0B41F25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37" name="rect">
            <a:extLst xmlns:a="http://schemas.openxmlformats.org/drawingml/2006/main">
              <a:ext uri="{FF2B5EF4-FFF2-40B4-BE49-F238E27FC236}">
                <a16:creationId xmlns:a16="http://schemas.microsoft.com/office/drawing/2014/main" id="{93AAF307-C959-4930-8B2C-D7654BAF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0"/>
            <a:ext cx="49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33B"/>
          </a:solidFill>
          <a:ln xmlns:a="http://schemas.openxmlformats.org/drawingml/2006/main" w="9525">
            <a:solidFill>
              <a:srgbClr val="F3B44E"/>
            </a:solidFill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FB03400A-551F-4E7C-B5A6-FFB38A72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575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4B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17E6191C-6227-4D11-9294-B9B5D341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5750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3B44E"/>
                </a:solidFill>
                <a:latin typeface="Aptos Mono"/>
                <a:ea typeface="Aptos Mono"/>
                <a:cs typeface="Aptos Mono"/>
              </a:rPr>
              <a:t>flag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C13A7DB5-E80E-47A1-8BFC-936164F2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每个传输单元：4B payload + 4B flag，通过 8-byte atomic operation 写出。</a:t>
            </a:r>
          </a:p>
        </p:txBody>
      </p:sp>
      <p:sp>
        <p:nvSpPr>
          <p:cNvPr id="41" name="rect">
            <a:extLst xmlns:a="http://schemas.openxmlformats.org/drawingml/2006/main">
              <a:ext uri="{FF2B5EF4-FFF2-40B4-BE49-F238E27FC236}">
                <a16:creationId xmlns:a16="http://schemas.microsoft.com/office/drawing/2014/main" id="{20791006-C1AA-4CD3-8080-8E493BF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2" name="rect">
            <a:extLst xmlns:a="http://schemas.openxmlformats.org/drawingml/2006/main">
              <a:ext uri="{FF2B5EF4-FFF2-40B4-BE49-F238E27FC236}">
                <a16:creationId xmlns:a16="http://schemas.microsoft.com/office/drawing/2014/main" id="{23EA57A7-A489-4C1A-92F3-4228887C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D488E545-3CEB-439B-96A6-9873E79A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Why host memory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E5EB2D8E-4A43-4D30-AF1C-997148C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240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LL 强制 intermediate buffer 在 host memory，CPU poll flag 更快；poll GPU memory over PCIe 太慢且需要显式同步。</a:t>
            </a:r>
          </a:p>
        </p:txBody>
      </p:sp>
      <p:sp>
        <p:nvSpPr>
          <p:cNvPr id="45" name="rect">
            <a:extLst xmlns:a="http://schemas.openxmlformats.org/drawingml/2006/main">
              <a:ext uri="{FF2B5EF4-FFF2-40B4-BE49-F238E27FC236}">
                <a16:creationId xmlns:a16="http://schemas.microsoft.com/office/drawing/2014/main" id="{DEFB4105-6D8C-46BA-85FE-C7530697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6" name="rect">
            <a:extLst xmlns:a="http://schemas.openxmlformats.org/drawingml/2006/main">
              <a:ext uri="{FF2B5EF4-FFF2-40B4-BE49-F238E27FC236}">
                <a16:creationId xmlns:a16="http://schemas.microsoft.com/office/drawing/2014/main" id="{BDC775AD-B207-4243-A09F-49F9913E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135A9EEC-4026-4997-9919-41FAEB93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19625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Why low latency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22CD0E37-558B-4E5B-92F2-BF49703D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95850"/>
            <a:ext cx="240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flag-based sync 避免 heavy memory fence；receiver 不必等大 chunk 全部完成。</a:t>
            </a:r>
          </a:p>
        </p:txBody>
      </p:sp>
      <p:sp>
        <p:nvSpPr>
          <p:cNvPr id="49" name="rect">
            <a:extLst xmlns:a="http://schemas.openxmlformats.org/drawingml/2006/main">
              <a:ext uri="{FF2B5EF4-FFF2-40B4-BE49-F238E27FC236}">
                <a16:creationId xmlns:a16="http://schemas.microsoft.com/office/drawing/2014/main" id="{77C8C472-1EF6-4568-AAF8-0B7A4880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0" name="rect">
            <a:extLst xmlns:a="http://schemas.openxmlformats.org/drawingml/2006/main">
              <a:ext uri="{FF2B5EF4-FFF2-40B4-BE49-F238E27FC236}">
                <a16:creationId xmlns:a16="http://schemas.microsoft.com/office/drawing/2014/main" id="{F22937CF-9DEE-4BAA-A77C-B10D407A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FC3C86EC-F721-4BC5-A3D7-A0A04A82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19625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Why low bandwidth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551F6957-91B1-40A2-9106-9C3C1CC1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240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不能有效使用 GPUDirect RDMA；payload/flag 比例只有 1:1，带宽利用率低。</a:t>
            </a:r>
          </a:p>
        </p:txBody>
      </p:sp>
    </p:spTree>
    <p:extLst>
      <p:ext uri="{BB962C8B-B14F-4D97-AF65-F5344CB8AC3E}">
        <p14:creationId xmlns:p14="http://schemas.microsoft.com/office/powerpoint/2010/main" val="4989553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B4AFC82-6852-4998-9261-3578508D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20644881-03AB-4A90-B63B-0D6B03FB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2DA3841-26D3-44C8-8361-2D5007B7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LL128 PROTOCOL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22EA5B6-9476-4467-9DA1-CC4C435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LL128 把 LL 的 flag 同步扩展到 128B 粒度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D43CFB-97D5-4A79-8574-B82E883E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120B payload + 8B flag 让有效载荷占比显著提高，但硬件原子写语义是前提。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008ADB2-A5F7-407A-81DF-44C149DA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668CDB-83DE-4AC0-AE5F-302EFEEA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C851C6EF-3FDF-41CC-A0AF-BC506F5F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BA1B3B8E-5E9F-4EDA-BFD3-5E262D63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908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BB8EF242-03A8-416C-AC38-9150E360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908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41A550-7CD9-4684-A00A-13D0D60B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384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120B data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37BF4C8-0DA7-41A5-B688-A6DFBBD1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3847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8B flag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4974952D-E70F-4786-8D6D-EBEEB8A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C05AA6A-3978-4C4E-81BD-418134F8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Intra-node advantage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47BBBBF-98C1-4A2B-9F6D-D1C5807F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NVLink 上 LL128 能保持低延迟，同时接近 Simple 的大消息吞吐。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83B3B298-0AC6-4828-A641-A781D303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D16C3FF-5ADF-44DD-892F-89287B0D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71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Inter-node caveat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DAE0B6-C689-490D-9BAB-2DB55F91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005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跨节点大消息下，千万级别小同步操作会累积，Simple 反而更稳。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A16EBEE5-D217-4085-B0FD-A928F9FD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00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F034C92-EF2D-4CF6-AE8C-822DE9B1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Hardware requirement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B4F9EA1-7FF1-4401-A276-ECBB8857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128B atomic writes 不能被 PCIe/内存系统拆分或重排；不满足时 NCCL 禁用。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724103ED-F89B-40EE-A08C-FA3A7926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DF10B71-BEEC-448B-941B-616F2A59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625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Selection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602A603-084A-49D9-AB00-674F78CE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91150"/>
            <a:ext cx="333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NCCL 会结合 NCCL_PROTO、algorithm、topology、message size 和 buffer resource 自动选择。</a:t>
            </a:r>
          </a:p>
        </p:txBody>
      </p:sp>
    </p:spTree>
    <p:extLst>
      <p:ext uri="{BB962C8B-B14F-4D97-AF65-F5344CB8AC3E}">
        <p14:creationId xmlns:p14="http://schemas.microsoft.com/office/powerpoint/2010/main" val="12514214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13EAFB8-CB7E-4E1C-8B2E-D6C10E9C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ED2DEF21-782D-4606-893D-7891CBB5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1798B5A-045D-40EB-8497-E05981B1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INTRA-NODE TRANSPORT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14BD533-9B27-46D5-918A-AD2C357C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节点内路径按性能层级选择：P2P_DIRECT &gt; P2P &gt; SHM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7736B0D-1C97-4AAF-BA79-30C119D3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论文细分了 NVLink/PCIe P2P、同进程 direct pointer、IPC/CUMEM，以及 host shared memory fallback。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B8D8FE-79FC-4C6B-AE02-C31EBF9B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2CFEF2-50A7-4F57-8A39-D29F7DB3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51943A8D-D345-4472-AC06-9FE0BEA6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0096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E67F4856-483A-4AC1-82C6-9AEC30B2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04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1C"/>
          </a:solidFill>
          <a:ln xmlns:a="http://schemas.openxmlformats.org/drawingml/2006/main" w="9525">
            <a:solidFill>
              <a:srgbClr val="365E43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BF3FD8B-7F7A-43D2-A87E-7AAC8AA9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81375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GPU 0</a:t>
            </a:r>
          </a:p>
          <a:p xmlns:a="http://schemas.openxmlformats.org/drawingml/2006/main">
            <a:pPr algn="ctr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sendBuff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2270E3E5-7913-4668-BCA8-C02DC9C5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104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1C"/>
          </a:solidFill>
          <a:ln xmlns:a="http://schemas.openxmlformats.org/drawingml/2006/main" w="9525">
            <a:solidFill>
              <a:srgbClr val="365E43"/>
            </a:solidFill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7CCE447-E354-4639-847B-6E91EFB8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81375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GPU 1</a:t>
            </a:r>
          </a:p>
          <a:p xmlns:a="http://schemas.openxmlformats.org/drawingml/2006/main">
            <a:pPr algn="ctr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recvBuff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0863F8F7-2100-4659-872D-658E84E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28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820"/>
          </a:solidFill>
          <a:ln xmlns:a="http://schemas.openxmlformats.org/drawingml/2006/main" w="9525">
            <a:solidFill>
              <a:srgbClr val="365E43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7DBCABF-19E5-40A8-B896-85595B41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BF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FBF73"/>
                </a:solidFill>
                <a:latin typeface="Aptos"/>
                <a:ea typeface="Aptos"/>
                <a:cs typeface="Aptos"/>
              </a:rPr>
              <a:t>P2P_DIRECT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76F02D3F-071B-403D-8F00-C1C28B9A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57575"/>
            <a:ext cx="1733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E255D773-896F-47E0-9C1C-B762FBD9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57575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EF78B1ED-D109-4FB4-A5A2-76A3550A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A20"/>
          </a:solidFill>
          <a:ln xmlns:a="http://schemas.openxmlformats.org/drawingml/2006/main" w="9525">
            <a:solidFill>
              <a:srgbClr val="6B5531"/>
            </a:solidFill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0A49F6F-682A-4DAF-94E1-AFCEE7F3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67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3B44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3B44E"/>
                </a:solidFill>
                <a:latin typeface="Aptos"/>
                <a:ea typeface="Aptos"/>
                <a:cs typeface="Aptos"/>
              </a:rPr>
              <a:t>SHM fallback</a:t>
            </a:r>
          </a:p>
        </p:txBody>
      </p:sp>
      <p:sp>
        <p:nvSpPr>
          <p:cNvPr id="19" name="line">
            <a:extLst xmlns:a="http://schemas.openxmlformats.org/drawingml/2006/main">
              <a:ext uri="{FF2B5EF4-FFF2-40B4-BE49-F238E27FC236}">
                <a16:creationId xmlns:a16="http://schemas.microsoft.com/office/drawing/2014/main" id="{27C0086A-C7B0-4A40-B2A2-522B094B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672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496A63CA-5A6E-45F9-8C78-00469381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9396DFC-8212-4418-A095-3F0B20ED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P2P_DIRECT 只有同一进程地址空间内可用：它绕开 IPC handle 和中间 FIFO，directSend/directRecv 直接在 source/destination buffer 间移动数据，但仍用 head/tail counters 同步。</a:t>
            </a:r>
          </a:p>
        </p:txBody>
      </p:sp>
    </p:spTree>
    <p:extLst>
      <p:ext uri="{BB962C8B-B14F-4D97-AF65-F5344CB8AC3E}">
        <p14:creationId xmlns:p14="http://schemas.microsoft.com/office/powerpoint/2010/main" val="10108686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788358B-3837-4ABC-B70B-2C731C39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56721466-D2E0-40D5-BDD7-E7EEFC66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32E5D26-815B-4083-9043-5A58D6DB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INTER-NODE TRANSPORT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B114B2A-B006-4C94-9C8F-64B47066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跨节点传输由 Socket 或 IB transport 承载，GDRDMA 是关键分水岭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CA55FC-B19B-46EA-A792-4CA773F1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IB transport 仍有 intermediate buffer；区别在于 buffer 位于 host memory 还是 GPU memory。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79BF82-FF4E-4078-9FE5-69646AD2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F2410A0-56EE-4ACB-94EA-70FFFB0D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B1531FE8-F43C-40E7-93FC-01165D41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C3BE5FF5-40FC-4156-9B29-1F9EEEB8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F5059C-BB4E-4E04-A46C-8CF2014B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Socket transport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937048-EFB5-4FA1-9268-52C7015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2686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net_socket.cc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无 RDMA 时使用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GPU → pinned host buffer → socket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receiver 再 host → GPU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额外 PCIe copy 成本高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D332680A-50BD-46FF-9B69-56C5A7D6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86B0F59B-5C93-4C31-92F9-268F027C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7C28212-4982-465E-8E10-8DF0317D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IB transport without GDRDMA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66186AE-3B0C-4C74-AA52-72155D8D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33675"/>
            <a:ext cx="2686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net_ib.cc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CPU proxy post RDMA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intermediate buffer 在 host memory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仍需要 GPU/host staging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53C96293-7104-43DB-9AA1-6745FF6F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504E1477-48AA-4160-9501-1CB4A337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20C6B95-3774-4C60-AF0D-3D981E31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IB transport with GDRDMA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43162AD-BCC6-45BB-AB44-DEC4E372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33675"/>
            <a:ext cx="2686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NIC 可直接访问 GPU memory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buffer 在 GPU memory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CPU 注册 GPU memory 给 NIC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绕过 host staging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1DCB4EB-156A-4D0A-A0B5-E8DE61AA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论文条件：GDRDMA 只有在 NIC 与 GPU 可通过合适 PCIe 路径互访时才启用。NCCL topology-aware logic 会决定是否用 GPU memory buffer。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3395A51-D1D5-4F66-B1CC-96A6C76E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这也是为什么同样是“IB/RoCE”，不同机器拓扑、PCIe switch、NUMA 位置会给出完全不同的 NCCL 性能。</a:t>
            </a:r>
          </a:p>
        </p:txBody>
      </p:sp>
    </p:spTree>
    <p:extLst>
      <p:ext uri="{BB962C8B-B14F-4D97-AF65-F5344CB8AC3E}">
        <p14:creationId xmlns:p14="http://schemas.microsoft.com/office/powerpoint/2010/main" val="1614302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7E8EA0A-5392-404D-B5CB-CF43A4FA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2A77BEC5-8CEE-487A-AEA0-CE5D94DC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E1BFD15-D2EC-4965-9D98-53108A5E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IB TRANSPORT DETAILS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2F83334-F588-42A6-A624-5BAA3297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NCCL 的 IB transport 把控制面和数据面拆开，避免 head-of-line blocking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59DB18F-4848-43C7-B760-C3DAEF45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论文列出多个容易被忽略但很影响性能/正确性的细节。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8350D0-1CF2-4312-93C1-D1C637E5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2F3F9A8-B0B5-4157-BA96-E827DD3B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BA133EE9-120A-4487-9EF8-4DC9230B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1B77D703-EBB0-4BC6-9B13-3D29435C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EA380D5-A790-4B7E-9189-A1CAA7E2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07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Per-peer multi-channel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63A0C8C-C4CA-466B-B018-00332D92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114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默认每个 remote GPU / NIC 维护 2 个 logical channel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proxy 轮转 sendComm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提高 per-QP chunk 与 ECMP 多路径利用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6EC04177-35B9-46EE-BA76-C1DB02C1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A2CB50D3-D4B9-4C0E-8384-2E11E344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AF29D0D-A727-4E30-B727-A761258B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907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Forward data QP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9877376-55F2-4DA1-B084-ADE4B0B8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2114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承载 bulk RDMA_WRITE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最后 RDMA_WRITE_WITH_IMM 通知 completion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大消息可配合 adaptive routing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1BF520C7-56A3-43C9-97FC-3CF17CD9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C1268212-441B-4D3F-AEE1-E8F3A211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CC285EA-B9D7-46A3-8763-04AD1A14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907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Reverse CTS QP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E7E0A79-E64F-4D46-92E5-1E8B582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2114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只承载 clear-to-send 小消息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包含 remote buffer addr / rkey / tag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避免被大流量阻塞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193F03EC-F964-4E19-9496-A15311C3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186D5EC3-037C-4601-BA1C-B8EA688C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AC697F6-7E50-44E6-832B-2ABAD47F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907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Flush QP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E15C8AA-98CE-41A1-8EE0-4E7F3D83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2114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GDRDMA 接收后用 loop-back RDMA_READ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不出主机但等待 PCIe write completion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作为 ordering barrier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167B8E56-A270-4AE5-A12B-2623C5B0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24375"/>
            <a:ext cx="942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F32F1E0-E701-4CC6-B200-BCDCDD59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24400"/>
            <a:ext cx="893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实现理解：IB transport 不是“NIC 直接发数据”这么简单；proxy thread、QP layout、immediate data、CTS 和 flush 共同保证吞吐、延迟和可见性。</a:t>
            </a:r>
          </a:p>
        </p:txBody>
      </p:sp>
    </p:spTree>
    <p:extLst>
      <p:ext uri="{BB962C8B-B14F-4D97-AF65-F5344CB8AC3E}">
        <p14:creationId xmlns:p14="http://schemas.microsoft.com/office/powerpoint/2010/main" val="15671075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4E5BEB0-B771-4ED6-8C6A-89EF3E88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21F4FAF8-40E0-4C86-8EBC-D4FE6544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E3584A9-65A5-40AD-8749-C105F559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ALGORITHM SUPPORT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AC4436E-D9AF-4295-8F10-C812F592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不是每个 collective 都能使用所有 algorithm/protocol 组合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1C6C9B-AFFB-4B92-B283-9FDA9546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论文从 NCCL 2.19 src/device header 中整理支持矩阵；Ring/Tree 是最具代表性的通用路径。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C6BA68-EA80-4AEF-9922-989623E0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4010B79-907A-4EA7-80A0-E56A3E2F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650A9A07-928F-491E-A852-3F06E8FB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C19932-9DE7-4AF9-94E2-4517ECEF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Algorithm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FF840CB7-1F2F-4488-B711-07051643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66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C53A22-2FFB-45BB-895B-9A7D3898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431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AllReduce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00842B7B-BACE-456E-8431-67AC0BAE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EED2002-BDD2-4308-B7C2-75A3325C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Broadcast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82C1DBA3-23F2-4269-9C65-5DB66788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4115B7C-062B-45EB-B8B1-02D80294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Reduce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84BFE2F4-561E-411E-BE3B-9287B991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66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14FF01A-A984-436C-A5D7-2B67A9F8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431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ReduceScatter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FE124BD6-4FE5-4B75-872F-C177F62F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FBF7685-94EB-444B-A128-F580CC60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431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AllGather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BF0DC77C-C0B1-44A7-9395-7BC590E6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A721F59-0B3B-439C-BCCE-F304A404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Ring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98A91D49-5E4F-48B8-84E4-699EA04C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27EEAB9-2C81-47B2-9963-25CC4140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432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/ LL / LL128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22CC270C-05F4-4A20-AF3C-F075EB72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EC63154-EB69-479E-AED9-B672EBE0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432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/ LL / LL128</a:t>
            </a:r>
          </a:p>
        </p:txBody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7CEF776D-6098-4E6E-9F5B-40967AEF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67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07D2F12-667E-4A9A-99D1-04D13907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432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/ LL / LL128</a:t>
            </a:r>
          </a:p>
        </p:txBody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EFCE1471-F358-456E-92F6-8F205D01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EFB362F-84CF-461A-A1FB-12A42026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432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/ LL / LL128</a:t>
            </a:r>
          </a:p>
        </p:txBody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97620D48-9894-440F-BB95-FCB10C53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67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30A398A-2504-4A34-AF64-EBCF47F5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432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/ LL / LL128</a:t>
            </a:r>
          </a:p>
        </p:txBody>
      </p:sp>
      <p:sp>
        <p:nvSpPr>
          <p:cNvPr id="32" name="rect">
            <a:extLst xmlns:a="http://schemas.openxmlformats.org/drawingml/2006/main">
              <a:ext uri="{FF2B5EF4-FFF2-40B4-BE49-F238E27FC236}">
                <a16:creationId xmlns:a16="http://schemas.microsoft.com/office/drawing/2014/main" id="{7CCE3E37-7C23-4B3F-A11E-F4CE2C8F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15F8B1F2-B472-4D87-A75C-8CB6C7AB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Tree</a:t>
            </a:r>
          </a:p>
        </p:txBody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D78B37B9-0B12-4E97-A5A1-36C8C410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67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F7693ED-3464-494C-BE58-901BB47E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432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/ LL / LL128</a:t>
            </a:r>
          </a:p>
        </p:txBody>
      </p:sp>
      <p:sp>
        <p:nvSpPr>
          <p:cNvPr id="36" name="rect">
            <a:extLst xmlns:a="http://schemas.openxmlformats.org/drawingml/2006/main">
              <a:ext uri="{FF2B5EF4-FFF2-40B4-BE49-F238E27FC236}">
                <a16:creationId xmlns:a16="http://schemas.microsoft.com/office/drawing/2014/main" id="{91F9B626-63E1-47A6-ABF5-E294A5B6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0606B88A-E57A-4A37-9A23-1B2A1242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BAF2AB1E-CCB9-4039-B4CF-98BB7CCE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67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016A4A02-6EDA-4B22-A661-1C459D15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40" name="rect">
            <a:extLst xmlns:a="http://schemas.openxmlformats.org/drawingml/2006/main">
              <a:ext uri="{FF2B5EF4-FFF2-40B4-BE49-F238E27FC236}">
                <a16:creationId xmlns:a16="http://schemas.microsoft.com/office/drawing/2014/main" id="{37EEE6AF-B9A6-4EB1-B20F-C4417523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67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2C831ADF-079F-4569-8166-2D8A114C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42" name="rect">
            <a:extLst xmlns:a="http://schemas.openxmlformats.org/drawingml/2006/main">
              <a:ext uri="{FF2B5EF4-FFF2-40B4-BE49-F238E27FC236}">
                <a16:creationId xmlns:a16="http://schemas.microsoft.com/office/drawing/2014/main" id="{8D112249-8D47-4334-B1E9-CB9128CF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67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055760E2-FF88-47AF-B90C-8897730F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432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44" name="rect">
            <a:extLst xmlns:a="http://schemas.openxmlformats.org/drawingml/2006/main">
              <a:ext uri="{FF2B5EF4-FFF2-40B4-BE49-F238E27FC236}">
                <a16:creationId xmlns:a16="http://schemas.microsoft.com/office/drawing/2014/main" id="{6639E872-1B70-467D-9FB4-4BD39D4E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C2198EA3-8A55-423F-96DF-C842EB68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CollNet Direct</a:t>
            </a:r>
          </a:p>
        </p:txBody>
      </p:sp>
      <p:sp>
        <p:nvSpPr>
          <p:cNvPr id="46" name="rect">
            <a:extLst xmlns:a="http://schemas.openxmlformats.org/drawingml/2006/main">
              <a:ext uri="{FF2B5EF4-FFF2-40B4-BE49-F238E27FC236}">
                <a16:creationId xmlns:a16="http://schemas.microsoft.com/office/drawing/2014/main" id="{5FA2E902-04DF-4203-8FBF-03AC8B93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67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FD6D11C3-0650-4EB0-BB07-5CF34F3D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433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48" name="rect">
            <a:extLst xmlns:a="http://schemas.openxmlformats.org/drawingml/2006/main">
              <a:ext uri="{FF2B5EF4-FFF2-40B4-BE49-F238E27FC236}">
                <a16:creationId xmlns:a16="http://schemas.microsoft.com/office/drawing/2014/main" id="{AA8701AD-2CD4-4FD7-BA74-B1F44140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BA9073DC-E4D6-4FC9-B8F0-E0BA23F1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50" name="rect">
            <a:extLst xmlns:a="http://schemas.openxmlformats.org/drawingml/2006/main">
              <a:ext uri="{FF2B5EF4-FFF2-40B4-BE49-F238E27FC236}">
                <a16:creationId xmlns:a16="http://schemas.microsoft.com/office/drawing/2014/main" id="{686D8032-A5CF-4CF3-9D45-843B6CF1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67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55C5A0DE-E156-48EE-BAC2-54BCA1F8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433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52" name="rect">
            <a:extLst xmlns:a="http://schemas.openxmlformats.org/drawingml/2006/main">
              <a:ext uri="{FF2B5EF4-FFF2-40B4-BE49-F238E27FC236}">
                <a16:creationId xmlns:a16="http://schemas.microsoft.com/office/drawing/2014/main" id="{4105679E-1EA0-4A12-8734-63F06A99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CE6AFF18-A9D0-46E6-A07B-EDFA3E8A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433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54" name="rect">
            <a:extLst xmlns:a="http://schemas.openxmlformats.org/drawingml/2006/main">
              <a:ext uri="{FF2B5EF4-FFF2-40B4-BE49-F238E27FC236}">
                <a16:creationId xmlns:a16="http://schemas.microsoft.com/office/drawing/2014/main" id="{E8A1B65A-B3D0-4576-8589-4483E8C4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14C44226-3163-4F8D-9D6E-481EE59E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433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56" name="rect">
            <a:extLst xmlns:a="http://schemas.openxmlformats.org/drawingml/2006/main">
              <a:ext uri="{FF2B5EF4-FFF2-40B4-BE49-F238E27FC236}">
                <a16:creationId xmlns:a16="http://schemas.microsoft.com/office/drawing/2014/main" id="{D240CB98-6DA9-4BE9-93A4-9D106A03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DBCBB39A-F90B-4B04-AB6A-4A7B149B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CollNet Chain</a:t>
            </a:r>
          </a:p>
        </p:txBody>
      </p:sp>
      <p:sp>
        <p:nvSpPr>
          <p:cNvPr id="58" name="rect">
            <a:extLst xmlns:a="http://schemas.openxmlformats.org/drawingml/2006/main">
              <a:ext uri="{FF2B5EF4-FFF2-40B4-BE49-F238E27FC236}">
                <a16:creationId xmlns:a16="http://schemas.microsoft.com/office/drawing/2014/main" id="{FFD3EBC6-CB77-4379-BB71-86BD88F5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82204CB6-246C-4DB2-8AE6-D8A4A12E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433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60" name="rect">
            <a:extLst xmlns:a="http://schemas.openxmlformats.org/drawingml/2006/main">
              <a:ext uri="{FF2B5EF4-FFF2-40B4-BE49-F238E27FC236}">
                <a16:creationId xmlns:a16="http://schemas.microsoft.com/office/drawing/2014/main" id="{1FFE9C8F-A270-46FC-B38D-68249E79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67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291BBE04-B2FD-49C6-995C-F0C1D3F6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62" name="rect">
            <a:extLst xmlns:a="http://schemas.openxmlformats.org/drawingml/2006/main">
              <a:ext uri="{FF2B5EF4-FFF2-40B4-BE49-F238E27FC236}">
                <a16:creationId xmlns:a16="http://schemas.microsoft.com/office/drawing/2014/main" id="{9C845D9B-2D64-491E-AC88-75E46C3F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67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30F5AD3A-9294-496C-ABDF-7A64F4C2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64" name="rect">
            <a:extLst xmlns:a="http://schemas.openxmlformats.org/drawingml/2006/main">
              <a:ext uri="{FF2B5EF4-FFF2-40B4-BE49-F238E27FC236}">
                <a16:creationId xmlns:a16="http://schemas.microsoft.com/office/drawing/2014/main" id="{320AE2A5-EFA8-4C16-A5F8-5319116C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67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65" name="text">
            <a:extLst xmlns:a="http://schemas.openxmlformats.org/drawingml/2006/main">
              <a:ext uri="{FF2B5EF4-FFF2-40B4-BE49-F238E27FC236}">
                <a16:creationId xmlns:a16="http://schemas.microsoft.com/office/drawing/2014/main" id="{1D6F2D8B-881C-4661-8BAA-2F9AC309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433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66" name="rect">
            <a:extLst xmlns:a="http://schemas.openxmlformats.org/drawingml/2006/main">
              <a:ext uri="{FF2B5EF4-FFF2-40B4-BE49-F238E27FC236}">
                <a16:creationId xmlns:a16="http://schemas.microsoft.com/office/drawing/2014/main" id="{CCA7B5ED-C0AB-488B-AB21-3EF765A3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67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2118E3E3-188F-4A68-8C4D-0D3530D9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68" name="rect">
            <a:extLst xmlns:a="http://schemas.openxmlformats.org/drawingml/2006/main">
              <a:ext uri="{FF2B5EF4-FFF2-40B4-BE49-F238E27FC236}">
                <a16:creationId xmlns:a16="http://schemas.microsoft.com/office/drawing/2014/main" id="{20FF3375-766E-4F72-9A21-57789097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443CA4AB-0500-44D2-804E-2D55B1E3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NVLS</a:t>
            </a:r>
          </a:p>
        </p:txBody>
      </p:sp>
      <p:sp>
        <p:nvSpPr>
          <p:cNvPr id="70" name="rect">
            <a:extLst xmlns:a="http://schemas.openxmlformats.org/drawingml/2006/main">
              <a:ext uri="{FF2B5EF4-FFF2-40B4-BE49-F238E27FC236}">
                <a16:creationId xmlns:a16="http://schemas.microsoft.com/office/drawing/2014/main" id="{542444F3-2AC7-4E06-ADEF-B7EF6EA2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672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71" name="text">
            <a:extLst xmlns:a="http://schemas.openxmlformats.org/drawingml/2006/main">
              <a:ext uri="{FF2B5EF4-FFF2-40B4-BE49-F238E27FC236}">
                <a16:creationId xmlns:a16="http://schemas.microsoft.com/office/drawing/2014/main" id="{098980E3-82D4-485C-A1DA-BB6072C7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434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72" name="rect">
            <a:extLst xmlns:a="http://schemas.openxmlformats.org/drawingml/2006/main">
              <a:ext uri="{FF2B5EF4-FFF2-40B4-BE49-F238E27FC236}">
                <a16:creationId xmlns:a16="http://schemas.microsoft.com/office/drawing/2014/main" id="{039EAC15-9F3E-4FD7-9E02-EF1E18E3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9B743FCB-771F-4330-BAB8-1457DAF0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434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74" name="rect">
            <a:extLst xmlns:a="http://schemas.openxmlformats.org/drawingml/2006/main">
              <a:ext uri="{FF2B5EF4-FFF2-40B4-BE49-F238E27FC236}">
                <a16:creationId xmlns:a16="http://schemas.microsoft.com/office/drawing/2014/main" id="{A66A015A-2210-431C-B7B7-0BCE4AE3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672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AA976F8E-DD84-43B8-92B9-DF62319D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434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76" name="rect">
            <a:extLst xmlns:a="http://schemas.openxmlformats.org/drawingml/2006/main">
              <a:ext uri="{FF2B5EF4-FFF2-40B4-BE49-F238E27FC236}">
                <a16:creationId xmlns:a16="http://schemas.microsoft.com/office/drawing/2014/main" id="{8BAF09A9-BD94-43AD-A803-8AD2EC73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77" name="text">
            <a:extLst xmlns:a="http://schemas.openxmlformats.org/drawingml/2006/main">
              <a:ext uri="{FF2B5EF4-FFF2-40B4-BE49-F238E27FC236}">
                <a16:creationId xmlns:a16="http://schemas.microsoft.com/office/drawing/2014/main" id="{AF6B3CCF-E2CD-4E11-8668-634CDB54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78" name="rect">
            <a:extLst xmlns:a="http://schemas.openxmlformats.org/drawingml/2006/main">
              <a:ext uri="{FF2B5EF4-FFF2-40B4-BE49-F238E27FC236}">
                <a16:creationId xmlns:a16="http://schemas.microsoft.com/office/drawing/2014/main" id="{EC78D291-8702-4896-AFFE-9B480EE5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672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79" name="text">
            <a:extLst xmlns:a="http://schemas.openxmlformats.org/drawingml/2006/main">
              <a:ext uri="{FF2B5EF4-FFF2-40B4-BE49-F238E27FC236}">
                <a16:creationId xmlns:a16="http://schemas.microsoft.com/office/drawing/2014/main" id="{7B970044-F380-4133-AD09-B434EDC2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4340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80" name="rect">
            <a:extLst xmlns:a="http://schemas.openxmlformats.org/drawingml/2006/main">
              <a:ext uri="{FF2B5EF4-FFF2-40B4-BE49-F238E27FC236}">
                <a16:creationId xmlns:a16="http://schemas.microsoft.com/office/drawing/2014/main" id="{AC526D7D-9805-47E3-845B-8DA17A87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81" name="text">
            <a:extLst xmlns:a="http://schemas.openxmlformats.org/drawingml/2006/main">
              <a:ext uri="{FF2B5EF4-FFF2-40B4-BE49-F238E27FC236}">
                <a16:creationId xmlns:a16="http://schemas.microsoft.com/office/drawing/2014/main" id="{32EFE578-D4A8-400C-BCF5-2AFC47F2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NVLS Tree</a:t>
            </a:r>
          </a:p>
        </p:txBody>
      </p:sp>
      <p:sp>
        <p:nvSpPr>
          <p:cNvPr id="82" name="rect">
            <a:extLst xmlns:a="http://schemas.openxmlformats.org/drawingml/2006/main">
              <a:ext uri="{FF2B5EF4-FFF2-40B4-BE49-F238E27FC236}">
                <a16:creationId xmlns:a16="http://schemas.microsoft.com/office/drawing/2014/main" id="{E9577C0C-43B3-4B9C-9E86-6396E40C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67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83" name="text">
            <a:extLst xmlns:a="http://schemas.openxmlformats.org/drawingml/2006/main">
              <a:ext uri="{FF2B5EF4-FFF2-40B4-BE49-F238E27FC236}">
                <a16:creationId xmlns:a16="http://schemas.microsoft.com/office/drawing/2014/main" id="{07B09D23-A905-4413-8890-2724ED32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434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84" name="rect">
            <a:extLst xmlns:a="http://schemas.openxmlformats.org/drawingml/2006/main">
              <a:ext uri="{FF2B5EF4-FFF2-40B4-BE49-F238E27FC236}">
                <a16:creationId xmlns:a16="http://schemas.microsoft.com/office/drawing/2014/main" id="{DCFF0429-4007-45EF-AC73-3B96C069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67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85" name="text">
            <a:extLst xmlns:a="http://schemas.openxmlformats.org/drawingml/2006/main">
              <a:ext uri="{FF2B5EF4-FFF2-40B4-BE49-F238E27FC236}">
                <a16:creationId xmlns:a16="http://schemas.microsoft.com/office/drawing/2014/main" id="{61B81678-EB67-4F22-86B2-1312D59D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434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86" name="rect">
            <a:extLst xmlns:a="http://schemas.openxmlformats.org/drawingml/2006/main">
              <a:ext uri="{FF2B5EF4-FFF2-40B4-BE49-F238E27FC236}">
                <a16:creationId xmlns:a16="http://schemas.microsoft.com/office/drawing/2014/main" id="{B7F19DB1-1AA1-4051-89D9-0E4B597C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67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87" name="text">
            <a:extLst xmlns:a="http://schemas.openxmlformats.org/drawingml/2006/main">
              <a:ext uri="{FF2B5EF4-FFF2-40B4-BE49-F238E27FC236}">
                <a16:creationId xmlns:a16="http://schemas.microsoft.com/office/drawing/2014/main" id="{ECB825AF-BE38-4F4E-B0B0-69AAB6C2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434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88" name="rect">
            <a:extLst xmlns:a="http://schemas.openxmlformats.org/drawingml/2006/main">
              <a:ext uri="{FF2B5EF4-FFF2-40B4-BE49-F238E27FC236}">
                <a16:creationId xmlns:a16="http://schemas.microsoft.com/office/drawing/2014/main" id="{BAA05FE5-2C6F-4577-8070-E7CC9AE1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67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89" name="text">
            <a:extLst xmlns:a="http://schemas.openxmlformats.org/drawingml/2006/main">
              <a:ext uri="{FF2B5EF4-FFF2-40B4-BE49-F238E27FC236}">
                <a16:creationId xmlns:a16="http://schemas.microsoft.com/office/drawing/2014/main" id="{480C3EED-1B8F-4D4E-893A-4FAAEB55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90" name="rect">
            <a:extLst xmlns:a="http://schemas.openxmlformats.org/drawingml/2006/main">
              <a:ext uri="{FF2B5EF4-FFF2-40B4-BE49-F238E27FC236}">
                <a16:creationId xmlns:a16="http://schemas.microsoft.com/office/drawing/2014/main" id="{A6AA5F47-A1BC-4958-BF67-AAD8A25D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67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1" name="text">
            <a:extLst xmlns:a="http://schemas.openxmlformats.org/drawingml/2006/main">
              <a:ext uri="{FF2B5EF4-FFF2-40B4-BE49-F238E27FC236}">
                <a16:creationId xmlns:a16="http://schemas.microsoft.com/office/drawing/2014/main" id="{1F12726B-C54C-470E-9858-1A57D61E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43450"/>
            <a:ext cx="1543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92" name="text">
            <a:extLst xmlns:a="http://schemas.openxmlformats.org/drawingml/2006/main">
              <a:ext uri="{FF2B5EF4-FFF2-40B4-BE49-F238E27FC236}">
                <a16:creationId xmlns:a16="http://schemas.microsoft.com/office/drawing/2014/main" id="{21EFE3AC-3C09-4847-83A2-C16D75AB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本 deck 后续聚焦 Ring 和 Tree：它们不依赖特定 SHARP/NVSwitch 硬件，最能解释 NCCL 一般 collective 执行模型。</a:t>
            </a:r>
          </a:p>
        </p:txBody>
      </p:sp>
    </p:spTree>
    <p:extLst>
      <p:ext uri="{BB962C8B-B14F-4D97-AF65-F5344CB8AC3E}">
        <p14:creationId xmlns:p14="http://schemas.microsoft.com/office/powerpoint/2010/main" val="8188256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BF8076F-B689-4A4D-849E-F036D3E8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FD25D36C-CF35-4E35-B60E-D32555C3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FAF13AF-BDEF-4E50-A900-71479723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DEVICE PRIMITIVES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6392298-0FEA-48DA-B2F2-DA96F313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NCCL collective 由少数 GPU primitive 组合而成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699AE6-D395-4E8B-ABB0-985914B4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primitive 名字本身就编码了操作顺序：recv、reduce、copy、send。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74041F-F7EC-40B2-914F-7C20237D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DC18E1B-D586-405A-826A-F5321108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1ACFDC75-2C08-4149-87AD-484123B3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04E59BA-B7CC-4EAE-BC1D-A722ED7E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Primitive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170E5FE1-4F74-4A46-ADF8-DF68B86D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272762F-3DF3-4BB0-B6D1-67117F29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66950"/>
            <a:ext cx="706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Meaning in one loop step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FC6F7B31-17EA-4E59-B513-3310032B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DC46403-B3CF-4412-BCB5-168754A6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send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A3481C82-3BF3-40F8-9426-19D64352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051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8394D95-524E-4DD5-8C53-9A29BE65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706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把当前 chunk 发给下一个 peer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014E8098-4C8A-4695-AA31-7826D9B1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0369BF4-E9D8-4830-86D0-0DD0A5A8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recv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845B2F36-7E22-48F3-82BB-738DF361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A82CE50-2003-46F3-AB3D-4143CA75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706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从前一个 peer 接收 chunk，通常是最后一步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DACB2E0E-7409-497D-A561-618A228D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30F92A3-83F7-490D-BB33-8B54A9C3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recvReduceSend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E65C0482-AB32-40F1-A382-CD85508B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9B7F3EB-B98F-483D-A224-80131D5A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0000"/>
            <a:ext cx="706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接收 partial chunk，与本地 buffer 做 element-wise reduction，再发出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35E5FD06-1BCA-42C6-96E1-5E5DDDA5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7022E97-A1A2-44A8-A52E-8867F8DC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recvCopySend</a:t>
            </a:r>
          </a:p>
        </p:txBody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FBD1FBD5-0F1A-49A2-9C2E-43BAF5A0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481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FD1FB22-0120-4C9B-B108-9A47F7E4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24350"/>
            <a:ext cx="706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接收已经完成的 chunk，copy 到输出位置，再转发</a:t>
            </a:r>
          </a:p>
        </p:txBody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A6B6F358-A0D7-4F8A-A48F-0C3B0F77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AF2F840-1EAA-4E64-A599-B20617C0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recvReduceCopySend</a:t>
            </a:r>
          </a:p>
        </p:txBody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880663B1-AAA4-47C7-A8C3-AAF6419B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16EE825-9D56-40F3-BAC4-255325F6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38700"/>
            <a:ext cx="706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接收、规约、copy 到输出，并继续 send；Tree root / Ring final reduce 常见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7FFFA83-6480-4FD3-A288-E1C88FEF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971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这些 primitive 在每个 channel、每个 slot、每个 loop iteration 中并行执行；协议决定同步方式和 buffer 粒度，algorithm 决定 primitive 序列。</a:t>
            </a:r>
          </a:p>
        </p:txBody>
      </p:sp>
    </p:spTree>
    <p:extLst>
      <p:ext uri="{BB962C8B-B14F-4D97-AF65-F5344CB8AC3E}">
        <p14:creationId xmlns:p14="http://schemas.microsoft.com/office/powerpoint/2010/main" val="49340182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8CFCAF3-5259-4007-A562-E114A8D3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0CA425B0-D106-4BAA-955F-B9DD17A0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F8EA3B0-0725-4259-A187-4575821C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RING ALLREDUCE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964B92-8EC2-43AC-A38A-F642C56B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Ring AllReduce 是 ReduceScatter 后接 AllGather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0A76D5-D51B-4946-B3C7-3645704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对 k 个 GPU，一个 loop iteration 包含 2k-1 个 step；它偏带宽，适合大消息。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E741F9-D98E-4947-8716-BD8951A5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8BE7249-1988-4657-A0CD-1AB3FBE0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A55CF81B-56F0-4DC7-AAE5-50380E85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52812D63-4842-4B48-AC96-F184F796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43250"/>
            <a:ext cx="144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6CFEE984-1214-43FA-A5AF-65657C86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71850"/>
            <a:ext cx="38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48DD592C-3B51-4FB9-941A-E3D97133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72000"/>
            <a:ext cx="144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8C6B7D1F-AFE5-48DA-9860-34D921A2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71850"/>
            <a:ext cx="38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A33E577E-BE22-4921-835E-3781B1C7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A68132A-D1E7-4AC5-B679-FCCD620F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15" name="rect">
            <a:extLst xmlns:a="http://schemas.openxmlformats.org/drawingml/2006/main">
              <a:ext uri="{FF2B5EF4-FFF2-40B4-BE49-F238E27FC236}">
                <a16:creationId xmlns:a16="http://schemas.microsoft.com/office/drawing/2014/main" id="{40CBE2E9-4E15-4694-B077-CE6EE4B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3973003-06F1-43F0-A90E-D61BB061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FDBA072E-B95E-4F9C-86DF-5E93E4BF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434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2A7F1D7-D71F-4879-A23C-462A01D5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95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9" name="rect">
            <a:extLst xmlns:a="http://schemas.openxmlformats.org/drawingml/2006/main">
              <a:ext uri="{FF2B5EF4-FFF2-40B4-BE49-F238E27FC236}">
                <a16:creationId xmlns:a16="http://schemas.microsoft.com/office/drawing/2014/main" id="{FB6B6B38-959F-4CDA-819E-1C16EBC2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434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081EDBC-2A06-4CAD-8516-81F01C5A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95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01316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CD4FF923-0EC2-4F71-9AED-E486E5FE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12EB891-9B1E-45F2-AC71-C8B32C6F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574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Phase / step</a:t>
            </a:r>
          </a:p>
        </p:txBody>
      </p:sp>
      <p:sp>
        <p:nvSpPr>
          <p:cNvPr id="23" name="rect">
            <a:extLst xmlns:a="http://schemas.openxmlformats.org/drawingml/2006/main">
              <a:ext uri="{FF2B5EF4-FFF2-40B4-BE49-F238E27FC236}">
                <a16:creationId xmlns:a16="http://schemas.microsoft.com/office/drawing/2014/main" id="{2B29073E-1197-4DC9-BC69-DC4C2937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8B4A40F-9349-4F72-A010-6E53C3F6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392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Primitive sequence</a:t>
            </a:r>
          </a:p>
        </p:txBody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E88F532C-B47C-4630-A61E-5DE2D5E7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EDC0676-8CFA-4175-A43E-D3375D9C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337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ReduceScatter step 0</a:t>
            </a:r>
          </a:p>
        </p:txBody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EEE401F2-BAC3-4275-B097-608A158C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4A267F4-A8BE-4D32-B396-9D63274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33700"/>
            <a:ext cx="392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send</a:t>
            </a:r>
          </a:p>
        </p:txBody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AE343397-40F6-44AE-AE36-F1925D34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7BF1249-78B0-4516-B9ED-D883F9D0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099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ReduceScatter 1..k-2</a:t>
            </a:r>
          </a:p>
        </p:txBody>
      </p:sp>
      <p:sp>
        <p:nvSpPr>
          <p:cNvPr id="31" name="rect">
            <a:extLst xmlns:a="http://schemas.openxmlformats.org/drawingml/2006/main">
              <a:ext uri="{FF2B5EF4-FFF2-40B4-BE49-F238E27FC236}">
                <a16:creationId xmlns:a16="http://schemas.microsoft.com/office/drawing/2014/main" id="{4DAD198C-7CC6-4FA1-83EB-34EDE3F4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EAC99D5-5C21-463E-8C7B-2AB73F3F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392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recvReduceSend</a:t>
            </a:r>
          </a:p>
        </p:txBody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128D7EA0-CB49-4B92-AE26-C451FECE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10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4A8D2D60-82F8-4F23-B3AB-573B0334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8620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ReduceScatter k-1</a:t>
            </a:r>
          </a:p>
        </p:txBody>
      </p:sp>
      <p:sp>
        <p:nvSpPr>
          <p:cNvPr id="35" name="rect">
            <a:extLst xmlns:a="http://schemas.openxmlformats.org/drawingml/2006/main">
              <a:ext uri="{FF2B5EF4-FFF2-40B4-BE49-F238E27FC236}">
                <a16:creationId xmlns:a16="http://schemas.microsoft.com/office/drawing/2014/main" id="{76C945F1-371F-4620-9A5D-A54EAB0B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A64C468-784E-4BCA-A07B-A9339D4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92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recvReduceCopySend</a:t>
            </a:r>
          </a:p>
        </p:txBody>
      </p:sp>
      <p:sp>
        <p:nvSpPr>
          <p:cNvPr id="37" name="rect">
            <a:extLst xmlns:a="http://schemas.openxmlformats.org/drawingml/2006/main">
              <a:ext uri="{FF2B5EF4-FFF2-40B4-BE49-F238E27FC236}">
                <a16:creationId xmlns:a16="http://schemas.microsoft.com/office/drawing/2014/main" id="{70D64492-E751-474A-9267-5AAC3D75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D8A8A198-DBF7-4EAA-BAD3-EE834BD2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62450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AllGather k..2k-2</a:t>
            </a:r>
          </a:p>
        </p:txBody>
      </p:sp>
      <p:sp>
        <p:nvSpPr>
          <p:cNvPr id="39" name="rect">
            <a:extLst xmlns:a="http://schemas.openxmlformats.org/drawingml/2006/main">
              <a:ext uri="{FF2B5EF4-FFF2-40B4-BE49-F238E27FC236}">
                <a16:creationId xmlns:a16="http://schemas.microsoft.com/office/drawing/2014/main" id="{60D75A4B-728D-48D2-A51E-04962244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7BE992AC-552B-4713-9104-CE90AE04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62450"/>
            <a:ext cx="392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recvCopySend, then final recv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A8509622-A223-4D2E-B643-99F17D51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每个 segment 沿 ring 传递并逐步规约；完成规约后的 segment 再沿 ring 分发给所有 rank。</a:t>
            </a:r>
          </a:p>
        </p:txBody>
      </p:sp>
    </p:spTree>
    <p:extLst>
      <p:ext uri="{BB962C8B-B14F-4D97-AF65-F5344CB8AC3E}">
        <p14:creationId xmlns:p14="http://schemas.microsoft.com/office/powerpoint/2010/main" val="139308671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204BC12-C808-4C33-A7D8-53856D76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C6F69BE3-C2E6-438D-91E3-28C907A1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9BB1611-2054-40BC-B080-81D8DCFB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RING VARIANTS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3D88EBC-3087-4216-9A5E-DEAB629C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AllGather 与 ReduceScatter 是 Ring AllReduce 的两个半边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299515C-5429-44C3-A820-3B2601AE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论文把它们单独拆开，因为很多训练框架会直接调用 ReduceScatter / AllGather。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60AFD3-E5AE-4E55-A691-2B211710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D4B20EA-D0E1-4529-BFB0-CE70E5E8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32F6337B-D27F-42AC-A84A-1B331638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286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472BC302-7134-4609-A1D3-D3606990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5AC0F4-26DC-4907-A0E2-61D25781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05075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Ring AllGather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9ECB4CD-9F5C-4BA3-9B0E-05F2235B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40195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目标：每个 GPU 收集所有 rank 的 data block。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Step 0：in-place send 或 copySend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Step 1..k-2：recvCopySend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Final：recv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结果：所有 GPU 得到完整 ordered copy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B5300C2D-9966-4D2A-8D18-23D711C8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286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CC855122-AAA5-4C63-9E6E-14297E48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DBD35CD-35F2-49BB-87D1-38930C2F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05075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Ring ReduceScatter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67A19A9-37C1-41BC-9ADF-41A1A188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0195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目标：先规约所有 GPU 的 block，再把不同 segment 分给各 GPU。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Step 0：send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Step 1..k-2：recvReduceSend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Final：recvReduceCopy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结果：每个 GPU 得到一个 fully reduced segment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93B44E4-11C9-49E3-AC04-B49F726C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实现粒度：NCCL 不直接移动“整个 tensor”，而是在 channel / loop / chunk / slot 层级反复执行这些 primitive。理解这一点才能解释 pipeline、overlap 和模拟器建模。</a:t>
            </a:r>
          </a:p>
        </p:txBody>
      </p:sp>
    </p:spTree>
    <p:extLst>
      <p:ext uri="{BB962C8B-B14F-4D97-AF65-F5344CB8AC3E}">
        <p14:creationId xmlns:p14="http://schemas.microsoft.com/office/powerpoint/2010/main" val="130193608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7F3356C-3EF6-4B50-BCE3-BB4AFF4D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3E24F903-1B9E-477C-A1DB-3CD6061F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C2E0220-E572-4095-A61D-D3DE928B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TREE ALLREDUCE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5753B73-4A77-40B4-B3C0-EC189AA9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Tree AllReduce 用 reduce 阶段聚合，再 broadcast 阶段下发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26D954-DFDD-43D6-9FCE-7D920E4B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它改变依赖深度，通常更适合小消息；NCCL 还可把 SM 分配给 reduce/broadcast 两组并发执行。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CCBEB80-DFF0-4DA9-94E0-F7356B83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7853C6F-57BC-49FF-A264-9FE4965D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A9D55300-9014-4252-B1AD-B6158DAD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2890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5EAE0D3-76D1-43CA-BE6A-1E688B75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8130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Root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9FD9936D-532C-426B-814F-2780BE28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6715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8A2B3CD-5E9C-4C07-B606-3FDD5ABE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95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Leaf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C6AC0FA0-BE62-49A0-9C50-9EC92071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628D513-3899-4BA5-9411-E561E901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195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Middle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0851839A-71C9-4657-8479-15FA276A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0540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CA73776-7427-4102-8E3B-E3A675D3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5780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Leaf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905438AE-8303-460A-B47B-2EA91B89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86100"/>
            <a:ext cx="38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D7D22B00-D057-42D8-BC19-F1290EB2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19247F02-46BE-4D9E-977B-ACBFDFE6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24350"/>
            <a:ext cx="38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9" name="line">
            <a:extLst xmlns:a="http://schemas.openxmlformats.org/drawingml/2006/main">
              <a:ext uri="{FF2B5EF4-FFF2-40B4-BE49-F238E27FC236}">
                <a16:creationId xmlns:a16="http://schemas.microsoft.com/office/drawing/2014/main" id="{BA0B47E0-ABA6-478A-9C54-A9288D21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3340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9AF84FA6-04AA-4A42-89C2-EADE59AB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C908BDF-3BE8-421B-AE04-B1669C67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984A7251-189E-427E-B787-307998DA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79B2E3D-030D-42D1-8B22-8F6FDD7E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3924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Primitive sequence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BA742EB6-7E58-4A85-A1C8-7EF0F74D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C4A12F1-491F-448E-AD62-E570AE2E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242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Root</a:t>
            </a:r>
          </a:p>
        </p:txBody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A450FC4A-C75D-4EC7-8639-15076805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1EA4826-E5F2-4E2D-81DB-9C217D5A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3924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recvReduceCopySend</a:t>
            </a:r>
          </a:p>
        </p:txBody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349C88E0-BAEC-4A06-8099-C87A6D64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E6E6D93-FE09-4243-A22F-6FBEB4C1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576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Middle</a:t>
            </a:r>
          </a:p>
        </p:txBody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0CFAB2C8-64FD-4D96-955A-FA03AC2B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140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BAD8D46-E0CB-48BE-9249-13AB9FB4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3924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recvReduceSend, then recvCopySend</a:t>
            </a:r>
          </a:p>
        </p:txBody>
      </p:sp>
      <p:sp>
        <p:nvSpPr>
          <p:cNvPr id="32" name="rect">
            <a:extLst xmlns:a="http://schemas.openxmlformats.org/drawingml/2006/main">
              <a:ext uri="{FF2B5EF4-FFF2-40B4-BE49-F238E27FC236}">
                <a16:creationId xmlns:a16="http://schemas.microsoft.com/office/drawing/2014/main" id="{8D78CD79-C02C-46EF-8EDF-31DB26E2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E1C9665-66BC-475E-AF79-CE8BE333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Leaf</a:t>
            </a:r>
          </a:p>
        </p:txBody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4B3AFF11-E829-4242-8F3E-627A20C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F208E6C-7C5C-4112-B7C8-EC03965C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924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send, then recv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26C4C97B-186C-4841-A65B-AAFAAD21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论文提醒：Tree 的 branching 主要跨节点构造；节点内部 GPU 常被链式连接。</a:t>
            </a:r>
          </a:p>
        </p:txBody>
      </p:sp>
    </p:spTree>
    <p:extLst>
      <p:ext uri="{BB962C8B-B14F-4D97-AF65-F5344CB8AC3E}">
        <p14:creationId xmlns:p14="http://schemas.microsoft.com/office/powerpoint/2010/main" val="969086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D4C41C8-5B5F-4171-8E12-2627C4D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CD43EF46-47A8-449A-9634-5F14D080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57BB2D5-04DF-4018-8040-211B9F4E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BENCHMARK RESULTS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DC5F075-512A-4928-AE4B-E4736FA6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测量结果与机制一致：小消息看同步延迟，大消息看同步次数和吞吐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52DE3D9-C936-4E2A-9FA9-7F11036C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论文在 Alps / 16 GH200 节点上比较 AllReduce 的 Ring/Tree 与 Simple/LL/LL128。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0EEB72-9F7F-46BF-ABB2-DDFBF81E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25BF669-DF92-4BDD-BECF-1216D49C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CB2978BE-81AD-467B-8E66-E00FEA50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AE019FE-24A3-488C-A5AC-26089FA6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316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10" name="rect">
            <a:extLst xmlns:a="http://schemas.openxmlformats.org/drawingml/2006/main">
              <a:ext uri="{FF2B5EF4-FFF2-40B4-BE49-F238E27FC236}">
                <a16:creationId xmlns:a16="http://schemas.microsoft.com/office/drawing/2014/main" id="{F5091D95-E199-4A98-B220-2A3D0F0C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4D4C599-BD1B-4488-99C8-E6C0B0B8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230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Best tendency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0B9B9A83-91AD-478E-BC70-B8774AF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C06AD89-CA67-4BEA-AA9B-2E574B88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Reason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7F508199-6106-4DD9-97F5-4F873385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1F2F832-48E4-4007-9ABC-28BF868A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Engineering note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704E6795-6082-49C1-83AB-C4D7026D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4EE98BF-247F-4E8D-BD0D-88B903A0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Inter-node small</a:t>
            </a:r>
          </a:p>
        </p:txBody>
      </p:sp>
      <p:sp>
        <p:nvSpPr>
          <p:cNvPr id="18" name="rect">
            <a:extLst xmlns:a="http://schemas.openxmlformats.org/drawingml/2006/main">
              <a:ext uri="{FF2B5EF4-FFF2-40B4-BE49-F238E27FC236}">
                <a16:creationId xmlns:a16="http://schemas.microsoft.com/office/drawing/2014/main" id="{E39E8118-CB00-44F2-8156-0FCC8142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C7DD05C-AF66-471C-96EE-84CC1671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14650"/>
            <a:ext cx="230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LL / LL128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87B6FA7F-D9C7-4B0E-947F-F1FD12FA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F4E1EC1-B762-49F7-A9A0-08EFD752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flag sync 延迟低</a:t>
            </a:r>
          </a:p>
        </p:txBody>
      </p:sp>
      <p:sp>
        <p:nvSpPr>
          <p:cNvPr id="22" name="rect">
            <a:extLst xmlns:a="http://schemas.openxmlformats.org/drawingml/2006/main">
              <a:ext uri="{FF2B5EF4-FFF2-40B4-BE49-F238E27FC236}">
                <a16:creationId xmlns:a16="http://schemas.microsoft.com/office/drawing/2014/main" id="{65A1848A-863F-4B4C-9C9F-E653223A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7D2A7F0-B52F-4965-904C-8D64AFBB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适合控制小块和小 tensor</a:t>
            </a:r>
          </a:p>
        </p:txBody>
      </p:sp>
      <p:sp>
        <p:nvSpPr>
          <p:cNvPr id="24" name="rect">
            <a:extLst xmlns:a="http://schemas.openxmlformats.org/drawingml/2006/main">
              <a:ext uri="{FF2B5EF4-FFF2-40B4-BE49-F238E27FC236}">
                <a16:creationId xmlns:a16="http://schemas.microsoft.com/office/drawing/2014/main" id="{F83A3297-AABD-4BDC-954B-715FEE50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EF3A65A-4427-4C02-9DB0-0CE3BB72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Inter-node large</a:t>
            </a:r>
          </a:p>
        </p:txBody>
      </p:sp>
      <p:sp>
        <p:nvSpPr>
          <p:cNvPr id="26" name="rect">
            <a:extLst xmlns:a="http://schemas.openxmlformats.org/drawingml/2006/main">
              <a:ext uri="{FF2B5EF4-FFF2-40B4-BE49-F238E27FC236}">
                <a16:creationId xmlns:a16="http://schemas.microsoft.com/office/drawing/2014/main" id="{1AB704BC-9C72-4BD5-BBD1-E11D2E54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9F2BF56-E2BE-4645-9412-DF5D45F0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67100"/>
            <a:ext cx="230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Simple</a:t>
            </a:r>
          </a:p>
        </p:txBody>
      </p:sp>
      <p:sp>
        <p:nvSpPr>
          <p:cNvPr id="28" name="rect">
            <a:extLst xmlns:a="http://schemas.openxmlformats.org/drawingml/2006/main">
              <a:ext uri="{FF2B5EF4-FFF2-40B4-BE49-F238E27FC236}">
                <a16:creationId xmlns:a16="http://schemas.microsoft.com/office/drawing/2014/main" id="{8EC7E906-BFE9-4830-8D6A-7B3B0973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36794AA-EE97-44B1-96B1-1FDD2C93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671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同步事件少，网络上更能维持吞吐</a:t>
            </a:r>
          </a:p>
        </p:txBody>
      </p:sp>
      <p:sp>
        <p:nvSpPr>
          <p:cNvPr id="30" name="rect">
            <a:extLst xmlns:a="http://schemas.openxmlformats.org/drawingml/2006/main">
              <a:ext uri="{FF2B5EF4-FFF2-40B4-BE49-F238E27FC236}">
                <a16:creationId xmlns:a16="http://schemas.microsoft.com/office/drawing/2014/main" id="{F265BEB3-CC13-4820-BB93-CD6F4BFC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9C06BB9-4468-432E-9E90-9125FDFC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不要强行用 LL128 跑 GB 级消息</a:t>
            </a:r>
          </a:p>
        </p:txBody>
      </p:sp>
      <p:sp>
        <p:nvSpPr>
          <p:cNvPr id="32" name="rect">
            <a:extLst xmlns:a="http://schemas.openxmlformats.org/drawingml/2006/main">
              <a:ext uri="{FF2B5EF4-FFF2-40B4-BE49-F238E27FC236}">
                <a16:creationId xmlns:a16="http://schemas.microsoft.com/office/drawing/2014/main" id="{30A31BF8-FA21-4950-919C-2FFCB846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68D8DDC-F557-44FE-8B85-9F2B7FAA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Intra-node NVLink</a:t>
            </a:r>
          </a:p>
        </p:txBody>
      </p:sp>
      <p:sp>
        <p:nvSpPr>
          <p:cNvPr id="34" name="rect">
            <a:extLst xmlns:a="http://schemas.openxmlformats.org/drawingml/2006/main">
              <a:ext uri="{FF2B5EF4-FFF2-40B4-BE49-F238E27FC236}">
                <a16:creationId xmlns:a16="http://schemas.microsoft.com/office/drawing/2014/main" id="{F773B706-3283-4359-9135-91E4A806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5D392FEE-A720-4DE1-8DFF-D98A196D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19550"/>
            <a:ext cx="230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LL128 strong</a:t>
            </a:r>
          </a:p>
        </p:txBody>
      </p:sp>
      <p:sp>
        <p:nvSpPr>
          <p:cNvPr id="36" name="rect">
            <a:extLst xmlns:a="http://schemas.openxmlformats.org/drawingml/2006/main">
              <a:ext uri="{FF2B5EF4-FFF2-40B4-BE49-F238E27FC236}">
                <a16:creationId xmlns:a16="http://schemas.microsoft.com/office/drawing/2014/main" id="{10D0CFBD-EF13-4D34-97D3-C0274B27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433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A5376D1E-FBA9-4ACD-8DF4-1FF2870C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955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NVLink 支撑细粒度流水，payload 效率也高</a:t>
            </a:r>
          </a:p>
        </p:txBody>
      </p:sp>
      <p:sp>
        <p:nvSpPr>
          <p:cNvPr id="38" name="rect">
            <a:extLst xmlns:a="http://schemas.openxmlformats.org/drawingml/2006/main">
              <a:ext uri="{FF2B5EF4-FFF2-40B4-BE49-F238E27FC236}">
                <a16:creationId xmlns:a16="http://schemas.microsoft.com/office/drawing/2014/main" id="{DA6B764C-A89B-4257-B75E-82EE56EE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A6D2AAB2-E253-4727-91AB-9901C41B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LL128 覆盖范围比 LL/Simple 更均衡</a:t>
            </a:r>
          </a:p>
        </p:txBody>
      </p:sp>
      <p:sp>
        <p:nvSpPr>
          <p:cNvPr id="40" name="rect">
            <a:extLst xmlns:a="http://schemas.openxmlformats.org/drawingml/2006/main">
              <a:ext uri="{FF2B5EF4-FFF2-40B4-BE49-F238E27FC236}">
                <a16:creationId xmlns:a16="http://schemas.microsoft.com/office/drawing/2014/main" id="{E4BBE545-980D-4FFE-8444-20BFEB82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5093515E-F853-4250-8CFE-9E84F182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Algorithm</a:t>
            </a:r>
          </a:p>
        </p:txBody>
      </p:sp>
      <p:sp>
        <p:nvSpPr>
          <p:cNvPr id="42" name="rect">
            <a:extLst xmlns:a="http://schemas.openxmlformats.org/drawingml/2006/main">
              <a:ext uri="{FF2B5EF4-FFF2-40B4-BE49-F238E27FC236}">
                <a16:creationId xmlns:a16="http://schemas.microsoft.com/office/drawing/2014/main" id="{D807D488-F9BB-4123-90F0-6134B775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958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151B069A-D4BC-4D02-AD3B-E5407AFA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230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Tree small / Ring large</a:t>
            </a:r>
          </a:p>
        </p:txBody>
      </p:sp>
      <p:sp>
        <p:nvSpPr>
          <p:cNvPr id="44" name="rect">
            <a:extLst xmlns:a="http://schemas.openxmlformats.org/drawingml/2006/main">
              <a:ext uri="{FF2B5EF4-FFF2-40B4-BE49-F238E27FC236}">
                <a16:creationId xmlns:a16="http://schemas.microsoft.com/office/drawing/2014/main" id="{168147D6-4A6A-4204-8CDC-214781CA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58AAF091-CB28-4500-9F56-7C71C211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Tree 低延迟；Ring 带宽利用更好</a:t>
            </a:r>
          </a:p>
        </p:txBody>
      </p:sp>
      <p:sp>
        <p:nvSpPr>
          <p:cNvPr id="46" name="rect">
            <a:extLst xmlns:a="http://schemas.openxmlformats.org/drawingml/2006/main">
              <a:ext uri="{FF2B5EF4-FFF2-40B4-BE49-F238E27FC236}">
                <a16:creationId xmlns:a16="http://schemas.microsoft.com/office/drawing/2014/main" id="{1D4BD04E-19EE-4501-9F3B-C96DEE8E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6F388617-35FA-44AF-9377-0FED2E0E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让 autotuning 结合拓扑选择</a:t>
            </a:r>
          </a:p>
        </p:txBody>
      </p:sp>
    </p:spTree>
    <p:extLst>
      <p:ext uri="{BB962C8B-B14F-4D97-AF65-F5344CB8AC3E}">
        <p14:creationId xmlns:p14="http://schemas.microsoft.com/office/powerpoint/2010/main" val="36307935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061721A-2422-44A4-834F-000E30AE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noFill/>
          </a:ln>
        </p:spPr>
      </p:sp>
      <p:sp>
        <p:nvSpPr>
          <p:cNvPr id="2" name="line">
            <a:extLst xmlns:a="http://schemas.openxmlformats.org/drawingml/2006/main">
              <a:ext uri="{FF2B5EF4-FFF2-40B4-BE49-F238E27FC236}">
                <a16:creationId xmlns:a16="http://schemas.microsoft.com/office/drawing/2014/main" id="{E982609E-5380-4F4E-9DBE-8EA77C51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D4977DE-4498-45F8-8124-AC73575E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B7A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B7A7"/>
                </a:solidFill>
                <a:latin typeface="Aptos"/>
                <a:ea typeface="Aptos"/>
                <a:cs typeface="Aptos"/>
              </a:rPr>
              <a:t>ATLAHS AND OUTLOOK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6E0163-2A95-4604-99AC-E3AB241B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论文最终把 NCCL 内部模型转化为可模拟的通信 schedule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B4209A7-D799-4669-A3EA-A994ADB2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它的实用价值不是背 API，而是让性能工程师知道该在哪一层建模和优化。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169505C-F65B-4E3C-9379-1EC0958E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27B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27B70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61F2E56-8F06-4164-A7F1-9AE36915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27B70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D5C0427C-650B-4B8A-BAF8-4CC65DCB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F4B61DA6-5EC6-44E8-9697-15D57C0D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6D70FCA-F7C4-48F5-A41E-CE988AF6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69CED50-57FF-4541-95E4-824A6FAC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828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从训练应用提取 collective 调用、rank、message size</a:t>
            </a:r>
          </a:p>
        </p:txBody>
      </p:sp>
      <p:sp>
        <p:nvSpPr>
          <p:cNvPr id="12" name="rect">
            <a:extLst xmlns:a="http://schemas.openxmlformats.org/drawingml/2006/main">
              <a:ext uri="{FF2B5EF4-FFF2-40B4-BE49-F238E27FC236}">
                <a16:creationId xmlns:a16="http://schemas.microsoft.com/office/drawing/2014/main" id="{486516E2-0808-41A4-BD6D-72B59788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574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290DDE15-A6AF-4E47-A8D5-CC712F80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574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B46F622-5046-46DF-9C66-CB210714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812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Decompose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2F27E79-35EE-4081-BDF2-45EDB117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1828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映射为 channel、primitive、loop、slot 级事件</a:t>
            </a:r>
          </a:p>
        </p:txBody>
      </p:sp>
      <p:sp>
        <p:nvSpPr>
          <p:cNvPr id="16" name="rect">
            <a:extLst xmlns:a="http://schemas.openxmlformats.org/drawingml/2006/main">
              <a:ext uri="{FF2B5EF4-FFF2-40B4-BE49-F238E27FC236}">
                <a16:creationId xmlns:a16="http://schemas.microsoft.com/office/drawing/2014/main" id="{D1A98A55-DAA3-4393-BA28-D9DF5334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574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4751B69E-05DA-46C6-B7BA-0FAF2AF4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574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E543F84-5776-40C3-8F72-AC9117CC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812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Schedule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23B87F8-5D75-422D-8554-D0C439CA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1828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生成 GOAL schedule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保留依赖、并发和 overlap</a:t>
            </a:r>
          </a:p>
        </p:txBody>
      </p:sp>
      <p:sp>
        <p:nvSpPr>
          <p:cNvPr id="20" name="rect">
            <a:extLst xmlns:a="http://schemas.openxmlformats.org/drawingml/2006/main">
              <a:ext uri="{FF2B5EF4-FFF2-40B4-BE49-F238E27FC236}">
                <a16:creationId xmlns:a16="http://schemas.microsoft.com/office/drawing/2014/main" id="{47361C0A-4AA1-4D2E-93D8-C3730F53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26"/>
          </a:solidFill>
          <a:ln xmlns:a="http://schemas.openxmlformats.org/drawingml/2006/main" w="9525">
            <a:solidFill>
              <a:srgbClr val="3A424B"/>
            </a:solidFill>
          </a:ln>
        </p:spPr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40DCB4B6-33F7-4F71-9C20-33B1884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D272311-E98B-4BE0-822D-ECAF1775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812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Simulate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FEDFF2C-7BC8-4CD7-8466-8E035905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7500"/>
            <a:ext cx="1828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在目标网络拓扑上预测运行时间</a:t>
            </a:r>
          </a:p>
          <a:p xmlns:a="http://schemas.openxmlformats.org/drawingml/2006/main">
            <a:pPr algn="l">
              <a:def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FB7A7"/>
                </a:solidFill>
                <a:latin typeface="PingFang SC"/>
                <a:ea typeface="PingFang SC"/>
                <a:cs typeface="PingFang SC"/>
              </a:rPr>
              <a:t>论文称误差低于 5%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10209FE1-08AE-4755-A8E2-4E5169E6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B"/>
          </a:solidFill>
          <a:ln xmlns:a="http://schemas.openxmlformats.org/drawingml/2006/main" w="0">
            <a:noFill/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20982B0B-AEE4-46C4-B92D-43CE3FA2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670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B"/>
          </a:solidFill>
          <a:ln xmlns:a="http://schemas.openxmlformats.org/drawingml/2006/main" w="0">
            <a:noFill/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D4AA74F1-5324-48D6-86C9-88FE3B6A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24B"/>
          </a:solidFill>
          <a:ln xmlns:a="http://schemas.openxmlformats.org/drawingml/2006/main" w="0">
            <a:noFill/>
          </a:ln>
        </p:spPr>
      </p:sp>
      <p:sp>
        <p:nvSpPr>
          <p:cNvPr id="27" name="rect">
            <a:extLst xmlns:a="http://schemas.openxmlformats.org/drawingml/2006/main">
              <a:ext uri="{FF2B5EF4-FFF2-40B4-BE49-F238E27FC236}">
                <a16:creationId xmlns:a16="http://schemas.microsoft.com/office/drawing/2014/main" id="{AD7BBCD8-E6BF-48A4-A0D3-C70A69EC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0125"/>
            <a:ext cx="904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BF66C44-EC7E-467E-B321-54FE5D84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10150"/>
            <a:ext cx="847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1316"/>
                </a:solidFill>
                <a:latin typeface="PingFang SC"/>
                <a:ea typeface="PingFang SC"/>
                <a:cs typeface="PingFang SC"/>
              </a:rPr>
              <a:t>带走：排查 NCCL 性能时，先定位层级：protocol、channel count、transport path、QP/ECMP、还是 Ring/Tree algorithm。</a:t>
            </a:r>
          </a:p>
        </p:txBody>
      </p:sp>
    </p:spTree>
    <p:extLst>
      <p:ext uri="{BB962C8B-B14F-4D97-AF65-F5344CB8AC3E}">
        <p14:creationId xmlns:p14="http://schemas.microsoft.com/office/powerpoint/2010/main" val="1151606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2026-05-12T08:17:22.7100000Z</dcterms:created>
  <dcterms:modified xsi:type="dcterms:W3CDTF">2026-05-12T08:17:22.7100000Z</dcterms:modified>
</coreProperties>
</file>